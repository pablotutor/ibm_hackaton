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"/>
  </p:notesMasterIdLst>
  <p:sldIdLst>
    <p:sldId id="2147374579" r:id="rId2"/>
    <p:sldId id="2147374581" r:id="rId3"/>
  </p:sldIdLst>
  <p:sldSz cx="12192000" cy="6858000"/>
  <p:notesSz cx="6794500" cy="99314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4D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2"/>
    <p:restoredTop sz="95897"/>
  </p:normalViewPr>
  <p:slideViewPr>
    <p:cSldViewPr snapToGrid="0">
      <p:cViewPr>
        <p:scale>
          <a:sx n="120" d="100"/>
          <a:sy n="120" d="100"/>
        </p:scale>
        <p:origin x="144" y="-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81DC8F-B2A8-AB40-95CA-1A0DD03F20BB}" type="datetimeFigureOut">
              <a:rPr lang="es-ES" smtClean="0"/>
              <a:t>25/2/26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79450" y="4779486"/>
            <a:ext cx="5435600" cy="391048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48645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DE52B2-C728-6F40-884B-9E60DED237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2489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0D9CE-37B7-D5DA-E14C-850196F0C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9A6A1E-6014-A6C9-F53E-A7558C87FF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D4A85C-F5F9-EDF8-BFDA-0DDA64E090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5AB791-0855-DC97-FEF4-857733EBEF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CB24F0-4389-49BC-9B1B-DA59EFAC1D1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83221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0D9CE-37B7-D5DA-E14C-850196F0C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9A6A1E-6014-A6C9-F53E-A7558C87FF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D4A85C-F5F9-EDF8-BFDA-0DDA64E090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5AB791-0855-DC97-FEF4-857733EBEF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CB24F0-4389-49BC-9B1B-DA59EFAC1D1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68308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9.jpeg"/><Relationship Id="rId7" Type="http://schemas.openxmlformats.org/officeDocument/2006/relationships/image" Target="../media/image7.sv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emf"/><Relationship Id="rId9" Type="http://schemas.openxmlformats.org/officeDocument/2006/relationships/image" Target="../media/image1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7.sv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upo 15">
            <a:extLst>
              <a:ext uri="{FF2B5EF4-FFF2-40B4-BE49-F238E27FC236}">
                <a16:creationId xmlns:a16="http://schemas.microsoft.com/office/drawing/2014/main" id="{EFAC0994-ED5C-764E-937A-F1A417E5B098}"/>
              </a:ext>
            </a:extLst>
          </p:cNvPr>
          <p:cNvGrpSpPr/>
          <p:nvPr userDrawn="1"/>
        </p:nvGrpSpPr>
        <p:grpSpPr>
          <a:xfrm>
            <a:off x="-68366" y="-59820"/>
            <a:ext cx="12260367" cy="6917822"/>
            <a:chOff x="-106756" y="6"/>
            <a:chExt cx="18386299" cy="10291757"/>
          </a:xfrm>
        </p:grpSpPr>
        <p:pic>
          <p:nvPicPr>
            <p:cNvPr id="7" name="Picture 14" descr="A picture containing sunset, outdoor, nature, setting&#10;&#10;Description automatically generated">
              <a:extLst>
                <a:ext uri="{FF2B5EF4-FFF2-40B4-BE49-F238E27FC236}">
                  <a16:creationId xmlns:a16="http://schemas.microsoft.com/office/drawing/2014/main" id="{F7F58AAC-57F1-E746-9127-6061E4E8ACC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1"/>
            <a:stretch/>
          </p:blipFill>
          <p:spPr>
            <a:xfrm>
              <a:off x="-106756" y="6"/>
              <a:ext cx="18386299" cy="10291757"/>
            </a:xfrm>
            <a:prstGeom prst="rect">
              <a:avLst/>
            </a:prstGeom>
          </p:spPr>
        </p:pic>
        <p:sp>
          <p:nvSpPr>
            <p:cNvPr id="8" name="Rectángulo 17">
              <a:extLst>
                <a:ext uri="{FF2B5EF4-FFF2-40B4-BE49-F238E27FC236}">
                  <a16:creationId xmlns:a16="http://schemas.microsoft.com/office/drawing/2014/main" id="{0F080078-02B8-6041-9927-063D9A0E75B5}"/>
                </a:ext>
              </a:extLst>
            </p:cNvPr>
            <p:cNvSpPr/>
            <p:nvPr userDrawn="1"/>
          </p:nvSpPr>
          <p:spPr>
            <a:xfrm>
              <a:off x="16555714" y="8565361"/>
              <a:ext cx="1723829" cy="17264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6743">
                <a:defRPr/>
              </a:pPr>
              <a:endParaRPr lang="ca-ES" sz="1799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pic>
          <p:nvPicPr>
            <p:cNvPr id="9" name="Picture 15">
              <a:extLst>
                <a:ext uri="{FF2B5EF4-FFF2-40B4-BE49-F238E27FC236}">
                  <a16:creationId xmlns:a16="http://schemas.microsoft.com/office/drawing/2014/main" id="{84A82D52-6909-614F-9FD0-B723ECDA516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30357" y="8444264"/>
              <a:ext cx="2840627" cy="1390724"/>
            </a:xfrm>
            <a:prstGeom prst="rect">
              <a:avLst/>
            </a:prstGeom>
          </p:spPr>
        </p:pic>
        <p:pic>
          <p:nvPicPr>
            <p:cNvPr id="10" name="Picture 16" descr="Logo&#10;&#10;Description automatically generated">
              <a:extLst>
                <a:ext uri="{FF2B5EF4-FFF2-40B4-BE49-F238E27FC236}">
                  <a16:creationId xmlns:a16="http://schemas.microsoft.com/office/drawing/2014/main" id="{2F62B7C5-7067-7A4C-9B4E-377C61E5DFE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6555713" y="4762"/>
              <a:ext cx="1723824" cy="8587770"/>
            </a:xfrm>
            <a:prstGeom prst="rect">
              <a:avLst/>
            </a:prstGeom>
          </p:spPr>
        </p:pic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58B1A61A-B714-9E44-B5C4-314C17A4E649}"/>
                </a:ext>
              </a:extLst>
            </p:cNvPr>
            <p:cNvGrpSpPr/>
            <p:nvPr userDrawn="1"/>
          </p:nvGrpSpPr>
          <p:grpSpPr>
            <a:xfrm>
              <a:off x="16914656" y="8852773"/>
              <a:ext cx="1010225" cy="1178748"/>
              <a:chOff x="8594501" y="4185134"/>
              <a:chExt cx="673483" cy="785832"/>
            </a:xfrm>
          </p:grpSpPr>
          <p:grpSp>
            <p:nvGrpSpPr>
              <p:cNvPr id="12" name="Grupo 3">
                <a:extLst>
                  <a:ext uri="{FF2B5EF4-FFF2-40B4-BE49-F238E27FC236}">
                    <a16:creationId xmlns:a16="http://schemas.microsoft.com/office/drawing/2014/main" id="{F4F512A4-29E4-324D-BE40-79E16241148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8597356" y="4185134"/>
                <a:ext cx="670628" cy="465672"/>
                <a:chOff x="11173147" y="5992119"/>
                <a:chExt cx="803883" cy="558080"/>
              </a:xfrm>
            </p:grpSpPr>
            <p:pic>
              <p:nvPicPr>
                <p:cNvPr id="14" name="Imagen 23">
                  <a:extLst>
                    <a:ext uri="{FF2B5EF4-FFF2-40B4-BE49-F238E27FC236}">
                      <a16:creationId xmlns:a16="http://schemas.microsoft.com/office/drawing/2014/main" id="{EC166848-1779-7644-A367-4D3B5DB54F9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303370" y="5992119"/>
                  <a:ext cx="543436" cy="216000"/>
                </a:xfrm>
                <a:prstGeom prst="rect">
                  <a:avLst/>
                </a:prstGeom>
              </p:spPr>
            </p:pic>
            <p:pic>
              <p:nvPicPr>
                <p:cNvPr id="15" name="Imagen 24">
                  <a:extLst>
                    <a:ext uri="{FF2B5EF4-FFF2-40B4-BE49-F238E27FC236}">
                      <a16:creationId xmlns:a16="http://schemas.microsoft.com/office/drawing/2014/main" id="{FB803618-BBB4-0048-A27A-2ED2B16A49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173147" y="6348755"/>
                  <a:ext cx="803883" cy="201444"/>
                </a:xfrm>
                <a:prstGeom prst="rect">
                  <a:avLst/>
                </a:prstGeom>
              </p:spPr>
            </p:pic>
          </p:grpSp>
          <p:pic>
            <p:nvPicPr>
              <p:cNvPr id="13" name="Gráfico 12">
                <a:extLst>
                  <a:ext uri="{FF2B5EF4-FFF2-40B4-BE49-F238E27FC236}">
                    <a16:creationId xmlns:a16="http://schemas.microsoft.com/office/drawing/2014/main" id="{DA67F01D-5802-3E4B-A527-F59A8C221F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email">
                <a:grayscl/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8594501" y="4768155"/>
                <a:ext cx="670628" cy="20281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06303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>
            <a:extLst>
              <a:ext uri="{FF2B5EF4-FFF2-40B4-BE49-F238E27FC236}">
                <a16:creationId xmlns:a16="http://schemas.microsoft.com/office/drawing/2014/main" id="{BDEE98AA-3E6F-9C46-9E62-1D6DEFD0D698}"/>
              </a:ext>
            </a:extLst>
          </p:cNvPr>
          <p:cNvGrpSpPr/>
          <p:nvPr userDrawn="1"/>
        </p:nvGrpSpPr>
        <p:grpSpPr>
          <a:xfrm>
            <a:off x="-1" y="-14294"/>
            <a:ext cx="12192001" cy="6872294"/>
            <a:chOff x="-1" y="-14294"/>
            <a:chExt cx="18288002" cy="10306056"/>
          </a:xfrm>
        </p:grpSpPr>
        <p:pic>
          <p:nvPicPr>
            <p:cNvPr id="8" name="Imagen 7" descr="Interfaz de usuario gráfica&#10;&#10;Descripción generada automáticamente">
              <a:extLst>
                <a:ext uri="{FF2B5EF4-FFF2-40B4-BE49-F238E27FC236}">
                  <a16:creationId xmlns:a16="http://schemas.microsoft.com/office/drawing/2014/main" id="{47EA2C28-A670-4549-8083-356E7CAA1B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01" y="4762"/>
              <a:ext cx="18280599" cy="10287000"/>
            </a:xfrm>
            <a:prstGeom prst="rect">
              <a:avLst/>
            </a:prstGeom>
          </p:spPr>
        </p:pic>
        <p:pic>
          <p:nvPicPr>
            <p:cNvPr id="9" name="Picture 18" descr="A picture containing sunset, outdoor, nature, setting&#10;&#10;Description automatically generated">
              <a:extLst>
                <a:ext uri="{FF2B5EF4-FFF2-40B4-BE49-F238E27FC236}">
                  <a16:creationId xmlns:a16="http://schemas.microsoft.com/office/drawing/2014/main" id="{EAE9C877-17CA-B14D-9D51-7849A9F04A2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1"/>
            <a:stretch/>
          </p:blipFill>
          <p:spPr>
            <a:xfrm>
              <a:off x="9143998" y="5138735"/>
              <a:ext cx="9144002" cy="5153027"/>
            </a:xfrm>
            <a:prstGeom prst="rect">
              <a:avLst/>
            </a:prstGeom>
          </p:spPr>
        </p:pic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429BADB3-509F-AA46-B93C-37DC82F60EB6}"/>
                </a:ext>
              </a:extLst>
            </p:cNvPr>
            <p:cNvGrpSpPr/>
            <p:nvPr/>
          </p:nvGrpSpPr>
          <p:grpSpPr>
            <a:xfrm>
              <a:off x="14723936" y="9806415"/>
              <a:ext cx="3327638" cy="304217"/>
              <a:chOff x="7046704" y="4768158"/>
              <a:chExt cx="2218425" cy="202811"/>
            </a:xfrm>
          </p:grpSpPr>
          <p:grpSp>
            <p:nvGrpSpPr>
              <p:cNvPr id="13" name="Grupo 3">
                <a:extLst>
                  <a:ext uri="{FF2B5EF4-FFF2-40B4-BE49-F238E27FC236}">
                    <a16:creationId xmlns:a16="http://schemas.microsoft.com/office/drawing/2014/main" id="{D564E235-7524-7E47-B25C-31D5F4FCD4B2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046704" y="4779434"/>
                <a:ext cx="1335889" cy="180235"/>
                <a:chOff x="9314380" y="6704356"/>
                <a:chExt cx="1601333" cy="216001"/>
              </a:xfrm>
            </p:grpSpPr>
            <p:pic>
              <p:nvPicPr>
                <p:cNvPr id="15" name="Imagen 23">
                  <a:extLst>
                    <a:ext uri="{FF2B5EF4-FFF2-40B4-BE49-F238E27FC236}">
                      <a16:creationId xmlns:a16="http://schemas.microsoft.com/office/drawing/2014/main" id="{34E7FDA6-16E6-BF41-9C18-EC9390EB61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314380" y="6704356"/>
                  <a:ext cx="543436" cy="216001"/>
                </a:xfrm>
                <a:prstGeom prst="rect">
                  <a:avLst/>
                </a:prstGeom>
              </p:spPr>
            </p:pic>
            <p:pic>
              <p:nvPicPr>
                <p:cNvPr id="16" name="Imagen 24">
                  <a:extLst>
                    <a:ext uri="{FF2B5EF4-FFF2-40B4-BE49-F238E27FC236}">
                      <a16:creationId xmlns:a16="http://schemas.microsoft.com/office/drawing/2014/main" id="{31F99101-5286-814B-B553-1A196C21D5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111830" y="6711638"/>
                  <a:ext cx="803883" cy="201444"/>
                </a:xfrm>
                <a:prstGeom prst="rect">
                  <a:avLst/>
                </a:prstGeom>
              </p:spPr>
            </p:pic>
          </p:grpSp>
          <p:pic>
            <p:nvPicPr>
              <p:cNvPr id="14" name="Gráfico 13">
                <a:extLst>
                  <a:ext uri="{FF2B5EF4-FFF2-40B4-BE49-F238E27FC236}">
                    <a16:creationId xmlns:a16="http://schemas.microsoft.com/office/drawing/2014/main" id="{0696C93B-E16B-6B4C-9A7C-23773642C9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email">
                <a:grayscl/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8594501" y="4768158"/>
                <a:ext cx="670628" cy="202811"/>
              </a:xfrm>
              <a:prstGeom prst="rect">
                <a:avLst/>
              </a:prstGeom>
            </p:spPr>
          </p:pic>
        </p:grpSp>
        <p:pic>
          <p:nvPicPr>
            <p:cNvPr id="11" name="Picture 12" descr="Background pattern&#10;&#10;Description automatically generated with medium confidence">
              <a:extLst>
                <a:ext uri="{FF2B5EF4-FFF2-40B4-BE49-F238E27FC236}">
                  <a16:creationId xmlns:a16="http://schemas.microsoft.com/office/drawing/2014/main" id="{10BDEFE1-B370-BD4A-AA97-8A4431C06B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686"/>
            <a:stretch/>
          </p:blipFill>
          <p:spPr>
            <a:xfrm>
              <a:off x="9127088" y="-14294"/>
              <a:ext cx="9160913" cy="5162556"/>
            </a:xfrm>
            <a:prstGeom prst="rect">
              <a:avLst/>
            </a:prstGeom>
          </p:spPr>
        </p:pic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39E3B7A2-847E-7841-B886-AB2AD47C7494}"/>
                </a:ext>
              </a:extLst>
            </p:cNvPr>
            <p:cNvSpPr/>
            <p:nvPr/>
          </p:nvSpPr>
          <p:spPr>
            <a:xfrm>
              <a:off x="-1" y="-14294"/>
              <a:ext cx="9537896" cy="10306056"/>
            </a:xfrm>
            <a:prstGeom prst="rect">
              <a:avLst/>
            </a:prstGeom>
            <a:solidFill>
              <a:srgbClr val="FB4D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71600"/>
              <a:endParaRPr lang="es-ES" sz="270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sp>
        <p:nvSpPr>
          <p:cNvPr id="17" name="Title 1">
            <a:extLst>
              <a:ext uri="{FF2B5EF4-FFF2-40B4-BE49-F238E27FC236}">
                <a16:creationId xmlns:a16="http://schemas.microsoft.com/office/drawing/2014/main" id="{BFF42FE6-01CE-5C4A-8E3E-48F40648CD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9160" y="494559"/>
            <a:ext cx="4366404" cy="748245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4000" b="1" i="0">
                <a:solidFill>
                  <a:sysClr val="windowText" lastClr="000000"/>
                </a:solidFill>
                <a:latin typeface="IBM Plex Sans SmBld" panose="020B0703050000000000" pitchFamily="34" charset="0"/>
                <a:ea typeface="IBM Plex Sans SmBld" panose="020B0703050000000000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Index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AD1281C-FB84-41FC-B532-890D53D9FDE1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9324" y="6108289"/>
            <a:ext cx="418832" cy="459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24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de título">
    <p:bg>
      <p:bgPr>
        <a:solidFill>
          <a:srgbClr val="FB4D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BFF42FE6-01CE-5C4A-8E3E-48F40648CD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12797" y="2673608"/>
            <a:ext cx="4366404" cy="74824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000" b="1" i="0">
                <a:solidFill>
                  <a:srgbClr val="FDF0B1"/>
                </a:solidFill>
                <a:latin typeface="IBM Plex Sans SmBld" panose="020B0703050000000000" pitchFamily="34" charset="0"/>
                <a:ea typeface="IBM Plex Sans SmBld" panose="020B0703050000000000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1</a:t>
            </a:r>
          </a:p>
        </p:txBody>
      </p:sp>
      <p:pic>
        <p:nvPicPr>
          <p:cNvPr id="18" name="Picture 20">
            <a:extLst>
              <a:ext uri="{FF2B5EF4-FFF2-40B4-BE49-F238E27FC236}">
                <a16:creationId xmlns:a16="http://schemas.microsoft.com/office/drawing/2014/main" id="{2C59016E-619B-8647-B945-4F852AD96A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1613" y="349060"/>
            <a:ext cx="609878" cy="609878"/>
          </a:xfrm>
          <a:prstGeom prst="rect">
            <a:avLst/>
          </a:prstGeom>
        </p:spPr>
      </p:pic>
      <p:pic>
        <p:nvPicPr>
          <p:cNvPr id="19" name="Picture 16" descr="Logo&#10;&#10;Description automatically generated">
            <a:extLst>
              <a:ext uri="{FF2B5EF4-FFF2-40B4-BE49-F238E27FC236}">
                <a16:creationId xmlns:a16="http://schemas.microsoft.com/office/drawing/2014/main" id="{8110B1AD-861C-F746-BF7A-3F9164F7C26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643"/>
          <a:stretch/>
        </p:blipFill>
        <p:spPr>
          <a:xfrm>
            <a:off x="0" y="4438266"/>
            <a:ext cx="3353601" cy="2425485"/>
          </a:xfrm>
          <a:prstGeom prst="rect">
            <a:avLst/>
          </a:prstGeom>
        </p:spPr>
      </p:pic>
      <p:pic>
        <p:nvPicPr>
          <p:cNvPr id="20" name="Imagen 23">
            <a:extLst>
              <a:ext uri="{FF2B5EF4-FFF2-40B4-BE49-F238E27FC236}">
                <a16:creationId xmlns:a16="http://schemas.microsoft.com/office/drawing/2014/main" id="{17A51B6C-B7C3-4446-AD4F-A924F62186F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15957" y="6545639"/>
            <a:ext cx="453354" cy="180277"/>
          </a:xfrm>
          <a:prstGeom prst="rect">
            <a:avLst/>
          </a:prstGeom>
        </p:spPr>
      </p:pic>
      <p:pic>
        <p:nvPicPr>
          <p:cNvPr id="21" name="Imagen 24">
            <a:extLst>
              <a:ext uri="{FF2B5EF4-FFF2-40B4-BE49-F238E27FC236}">
                <a16:creationId xmlns:a16="http://schemas.microsoft.com/office/drawing/2014/main" id="{27910091-621C-2942-A094-3DB4D82824A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1218" y="6551717"/>
            <a:ext cx="670628" cy="168128"/>
          </a:xfrm>
          <a:prstGeom prst="rect">
            <a:avLst/>
          </a:prstGeom>
        </p:spPr>
      </p:pic>
      <p:pic>
        <p:nvPicPr>
          <p:cNvPr id="22" name="Gráfico 21">
            <a:extLst>
              <a:ext uri="{FF2B5EF4-FFF2-40B4-BE49-F238E27FC236}">
                <a16:creationId xmlns:a16="http://schemas.microsoft.com/office/drawing/2014/main" id="{934BB462-D042-E04B-A7FB-C104A52866BA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grayscl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363754" y="6534360"/>
            <a:ext cx="670628" cy="202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455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a de título">
    <p:bg>
      <p:bgPr>
        <a:solidFill>
          <a:srgbClr val="FB4D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BFF42FE6-01CE-5C4A-8E3E-48F40648CD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12797" y="2673608"/>
            <a:ext cx="4366404" cy="74824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000" b="1" i="0">
                <a:solidFill>
                  <a:srgbClr val="FDF0B1"/>
                </a:solidFill>
                <a:latin typeface="IBM Plex Sans SmBld" panose="020B0703050000000000" pitchFamily="34" charset="0"/>
                <a:ea typeface="IBM Plex Sans SmBld" panose="020B0703050000000000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1</a:t>
            </a:r>
          </a:p>
        </p:txBody>
      </p:sp>
      <p:pic>
        <p:nvPicPr>
          <p:cNvPr id="18" name="Picture 20">
            <a:extLst>
              <a:ext uri="{FF2B5EF4-FFF2-40B4-BE49-F238E27FC236}">
                <a16:creationId xmlns:a16="http://schemas.microsoft.com/office/drawing/2014/main" id="{2C59016E-619B-8647-B945-4F852AD96A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3764" y="274109"/>
            <a:ext cx="609878" cy="609878"/>
          </a:xfrm>
          <a:prstGeom prst="rect">
            <a:avLst/>
          </a:prstGeom>
        </p:spPr>
      </p:pic>
      <p:pic>
        <p:nvPicPr>
          <p:cNvPr id="20" name="Imagen 23">
            <a:extLst>
              <a:ext uri="{FF2B5EF4-FFF2-40B4-BE49-F238E27FC236}">
                <a16:creationId xmlns:a16="http://schemas.microsoft.com/office/drawing/2014/main" id="{17A51B6C-B7C3-4446-AD4F-A924F62186F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15957" y="6545639"/>
            <a:ext cx="453354" cy="180277"/>
          </a:xfrm>
          <a:prstGeom prst="rect">
            <a:avLst/>
          </a:prstGeom>
        </p:spPr>
      </p:pic>
      <p:pic>
        <p:nvPicPr>
          <p:cNvPr id="21" name="Imagen 24">
            <a:extLst>
              <a:ext uri="{FF2B5EF4-FFF2-40B4-BE49-F238E27FC236}">
                <a16:creationId xmlns:a16="http://schemas.microsoft.com/office/drawing/2014/main" id="{27910091-621C-2942-A094-3DB4D82824A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1218" y="6551717"/>
            <a:ext cx="670628" cy="168128"/>
          </a:xfrm>
          <a:prstGeom prst="rect">
            <a:avLst/>
          </a:prstGeom>
        </p:spPr>
      </p:pic>
      <p:pic>
        <p:nvPicPr>
          <p:cNvPr id="22" name="Gráfico 21">
            <a:extLst>
              <a:ext uri="{FF2B5EF4-FFF2-40B4-BE49-F238E27FC236}">
                <a16:creationId xmlns:a16="http://schemas.microsoft.com/office/drawing/2014/main" id="{934BB462-D042-E04B-A7FB-C104A52866B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grayscl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63754" y="6534360"/>
            <a:ext cx="670628" cy="202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622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2C8B7F5-E772-7042-AC09-4C37B4D69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4" y="275803"/>
            <a:ext cx="12789758" cy="82791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ca-ES" sz="1799" dirty="0" err="1">
                <a:latin typeface="IBM Plex Sans Light" panose="020B0403050203000203" pitchFamily="34" charset="0"/>
              </a:rPr>
              <a:t>Comunicaciones</a:t>
            </a:r>
            <a:br>
              <a:rPr lang="ca-ES" sz="2397" dirty="0">
                <a:latin typeface="IBM Plex Sans Light" panose="020B0403050203000203" pitchFamily="34" charset="0"/>
              </a:rPr>
            </a:br>
            <a:r>
              <a:rPr lang="ca-ES" sz="3197" b="1" dirty="0" err="1">
                <a:latin typeface="IBM Plex Sans SmBld" panose="020B0503050203000203" pitchFamily="34" charset="0"/>
              </a:rPr>
              <a:t>Ejemplo</a:t>
            </a:r>
            <a:r>
              <a:rPr lang="ca-ES" sz="3197" b="1" dirty="0">
                <a:latin typeface="IBM Plex Sans SmBld" panose="020B0503050203000203" pitchFamily="34" charset="0"/>
              </a:rPr>
              <a:t> de </a:t>
            </a:r>
            <a:r>
              <a:rPr lang="ca-ES" sz="3197" b="1" dirty="0" err="1">
                <a:latin typeface="IBM Plex Sans SmBld" panose="020B0503050203000203" pitchFamily="34" charset="0"/>
              </a:rPr>
              <a:t>página</a:t>
            </a:r>
            <a:endParaRPr lang="ca-ES" sz="3597" dirty="0"/>
          </a:p>
        </p:txBody>
      </p:sp>
      <p:sp>
        <p:nvSpPr>
          <p:cNvPr id="9" name="Footer Placeholder 7">
            <a:extLst>
              <a:ext uri="{FF2B5EF4-FFF2-40B4-BE49-F238E27FC236}">
                <a16:creationId xmlns:a16="http://schemas.microsoft.com/office/drawing/2014/main" id="{736D9E32-33FA-6647-8B00-92835403C2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6234" y="6508667"/>
            <a:ext cx="8229470" cy="333684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>
                <a:solidFill>
                  <a:prstClr val="black"/>
                </a:solidFill>
              </a:rPr>
              <a:t>IBM – </a:t>
            </a:r>
            <a:r>
              <a:rPr lang="en-US" dirty="0" err="1">
                <a:solidFill>
                  <a:prstClr val="black"/>
                </a:solidFill>
              </a:rPr>
              <a:t>Viewnext</a:t>
            </a:r>
            <a:r>
              <a:rPr lang="en-US" dirty="0">
                <a:solidFill>
                  <a:prstClr val="black"/>
                </a:solidFill>
              </a:rPr>
              <a:t> - </a:t>
            </a:r>
            <a:r>
              <a:rPr lang="en-US" dirty="0" err="1">
                <a:solidFill>
                  <a:prstClr val="black"/>
                </a:solidFill>
              </a:rPr>
              <a:t>Bluetab</a:t>
            </a:r>
            <a:r>
              <a:rPr lang="en-US" dirty="0">
                <a:solidFill>
                  <a:prstClr val="black"/>
                </a:solidFill>
              </a:rPr>
              <a:t> / © IBM Corporation</a:t>
            </a:r>
          </a:p>
        </p:txBody>
      </p:sp>
      <p:pic>
        <p:nvPicPr>
          <p:cNvPr id="20" name="Imagen 23">
            <a:extLst>
              <a:ext uri="{FF2B5EF4-FFF2-40B4-BE49-F238E27FC236}">
                <a16:creationId xmlns:a16="http://schemas.microsoft.com/office/drawing/2014/main" id="{95CC4016-3264-E747-84DD-D0FBF15E80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15957" y="6545639"/>
            <a:ext cx="453354" cy="180277"/>
          </a:xfrm>
          <a:prstGeom prst="rect">
            <a:avLst/>
          </a:prstGeom>
        </p:spPr>
      </p:pic>
      <p:pic>
        <p:nvPicPr>
          <p:cNvPr id="21" name="Imagen 24">
            <a:extLst>
              <a:ext uri="{FF2B5EF4-FFF2-40B4-BE49-F238E27FC236}">
                <a16:creationId xmlns:a16="http://schemas.microsoft.com/office/drawing/2014/main" id="{D256AB97-EBCF-1E4D-8ECF-7E254FCDEBD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1218" y="6551717"/>
            <a:ext cx="670628" cy="168128"/>
          </a:xfrm>
          <a:prstGeom prst="rect">
            <a:avLst/>
          </a:prstGeom>
        </p:spPr>
      </p:pic>
      <p:pic>
        <p:nvPicPr>
          <p:cNvPr id="22" name="Gráfico 21">
            <a:extLst>
              <a:ext uri="{FF2B5EF4-FFF2-40B4-BE49-F238E27FC236}">
                <a16:creationId xmlns:a16="http://schemas.microsoft.com/office/drawing/2014/main" id="{55991C6D-E054-D541-B18F-17C206AA3B1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grayscl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63754" y="6534360"/>
            <a:ext cx="670628" cy="202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772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72C61F-0723-8443-97AC-474F4C566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8B85176-C33B-ED46-ADB0-F91E72925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CA8C57-556A-064A-BF8E-E39E5A935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90BAF-B0B3-3941-BFBD-D38D95290204}" type="datetimeFigureOut">
              <a:rPr lang="es-ES" smtClean="0"/>
              <a:t>25/2/26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C39C9C-B83D-7941-8D86-693147385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279C49-84E5-5A49-BBF9-2DEFCF704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78EFD-69B2-7C4F-9E14-4D6D02237A7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32088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CC434F-F69B-1947-A6E3-D1A3A16B6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4291B1-0015-9348-BB27-CB1DA355E5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47A2443-B87B-834D-9695-AA7BF64E8D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CBB7452-409F-1746-BAA5-94FBF9C14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90BAF-B0B3-3941-BFBD-D38D95290204}" type="datetimeFigureOut">
              <a:rPr lang="es-ES" smtClean="0"/>
              <a:t>25/2/26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F003E6E-E054-5441-9916-DE2106496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3280BEA-57D8-7E4C-B351-EDFC98785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78EFD-69B2-7C4F-9E14-4D6D02237A7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05787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59D8E-1142-2A42-8884-667F1B024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9FCDC15-8AF4-F341-B03F-E240BEB8F1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256DC2E-84FC-2545-8E01-F75C1C4342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C3EDC0D-59AE-6143-A2AC-50037529AE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0640874-3AF0-5043-83F7-7EDD635061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4857CF4-0722-B743-B10D-D8E5EA52C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90BAF-B0B3-3941-BFBD-D38D95290204}" type="datetimeFigureOut">
              <a:rPr lang="es-ES" smtClean="0"/>
              <a:t>25/2/26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B0F56AA-9302-2A4E-9B48-111339854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B0C8250-5890-DC4B-8406-987883C4F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78EFD-69B2-7C4F-9E14-4D6D02237A7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7897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2F2497-7A6E-E34F-AEAF-294E8275A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261F031-5782-0B45-9A7F-47A9CE973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90BAF-B0B3-3941-BFBD-D38D95290204}" type="datetimeFigureOut">
              <a:rPr lang="es-ES" smtClean="0"/>
              <a:t>25/2/26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1052742-5A83-FC43-94AB-958D39053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0E7E256-917F-254D-BBAE-AC34FAE75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78EFD-69B2-7C4F-9E14-4D6D02237A7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41511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E20D80E-E880-2749-8370-FBE32FF78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90BAF-B0B3-3941-BFBD-D38D95290204}" type="datetimeFigureOut">
              <a:rPr lang="es-ES" smtClean="0"/>
              <a:t>25/2/26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8C1AD30-7221-D94F-A311-8D326D306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5904EAA-B01F-8E4F-83D9-F83CB4E9B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78EFD-69B2-7C4F-9E14-4D6D02237A7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65492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BF2703-3B87-F848-B609-F3737F24A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7FF683-CFA9-C641-9E22-24FEF399F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39B78E-CCD1-5C4F-9336-97EB016B32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BFCB359-D6D2-C543-AFF0-0667C2AE7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90BAF-B0B3-3941-BFBD-D38D95290204}" type="datetimeFigureOut">
              <a:rPr lang="es-ES" smtClean="0"/>
              <a:t>25/2/26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52A6339-C389-C34E-B14A-A2028E797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BB1DB85-75B0-F247-A517-0A52F3935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78EFD-69B2-7C4F-9E14-4D6D02237A7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235574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BBC472-FDEE-7340-999F-09B1B127B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0AD9244-B061-184C-AAAB-7B2AE03C21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24A272C-A468-0147-8D92-FC63ECF769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08E126C-DCDE-334E-8C29-716D38C7D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90BAF-B0B3-3941-BFBD-D38D95290204}" type="datetimeFigureOut">
              <a:rPr lang="es-ES" smtClean="0"/>
              <a:t>25/2/26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5DEAE92-62EA-9746-9745-20813CF48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5A9007A-4D12-7F4D-A89E-9FEF97167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78EFD-69B2-7C4F-9E14-4D6D02237A7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284730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89F3E-0663-3148-B5F0-A51BB7FB5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51DE9AA-B370-FF49-8E81-86278B676D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DBC5BA-8853-D242-A5C8-387433A16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90BAF-B0B3-3941-BFBD-D38D95290204}" type="datetimeFigureOut">
              <a:rPr lang="es-ES" smtClean="0"/>
              <a:t>25/2/26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D0CC9E-49E8-EB44-B455-100A00B66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F252054-05FE-934A-B0A6-EBFAB0FF4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78EFD-69B2-7C4F-9E14-4D6D02237A7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407856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C635988-3A42-C346-9667-F0ED64E17D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55CA0BB-048B-724F-81ED-A1EC783FFD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7A372A-5090-C546-94B0-ACF6FD7FE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90BAF-B0B3-3941-BFBD-D38D95290204}" type="datetimeFigureOut">
              <a:rPr lang="es-ES" smtClean="0"/>
              <a:t>25/2/26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53B1324-0662-124D-90D6-3FB5B4E4E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9E69B1F-0000-8044-A051-44EF71BFD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78EFD-69B2-7C4F-9E14-4D6D02237A7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96964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o0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quare">
            <a:extLst>
              <a:ext uri="{FF2B5EF4-FFF2-40B4-BE49-F238E27FC236}">
                <a16:creationId xmlns:a16="http://schemas.microsoft.com/office/drawing/2014/main" id="{36E51E80-BCEB-5E49-895C-33C54AAA6FE6}"/>
              </a:ext>
            </a:extLst>
          </p:cNvPr>
          <p:cNvSpPr/>
          <p:nvPr userDrawn="1"/>
        </p:nvSpPr>
        <p:spPr>
          <a:xfrm rot="18900000">
            <a:off x="-272174" y="606371"/>
            <a:ext cx="520684" cy="520684"/>
          </a:xfrm>
          <a:prstGeom prst="rect">
            <a:avLst/>
          </a:prstGeom>
          <a:solidFill>
            <a:schemeClr val="tx1"/>
          </a:solidFill>
          <a:ln w="12700">
            <a:miter lim="400000"/>
          </a:ln>
          <a:effectLst/>
        </p:spPr>
        <p:txBody>
          <a:bodyPr lIns="60959" tIns="60959" rIns="60959" bIns="60959" anchor="ctr"/>
          <a:lstStyle/>
          <a:p>
            <a:pPr defTabSz="623376" hangingPunct="0">
              <a:defRPr>
                <a:solidFill>
                  <a:srgbClr val="FFFFFF"/>
                </a:solidFill>
              </a:defRPr>
            </a:pPr>
            <a:endParaRPr sz="1200" kern="0">
              <a:solidFill>
                <a:srgbClr val="FFFFFF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9" name="Text Placeholder 35">
            <a:extLst>
              <a:ext uri="{FF2B5EF4-FFF2-40B4-BE49-F238E27FC236}">
                <a16:creationId xmlns:a16="http://schemas.microsoft.com/office/drawing/2014/main" id="{AA1A2C03-2EDC-0547-A6E8-5CF759289E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6348" y="1365261"/>
            <a:ext cx="11359690" cy="4629752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IBM Plex Sans" panose="020B0503050203000203" pitchFamily="34" charset="77"/>
              </a:defRPr>
            </a:lvl1pPr>
            <a:lvl2pPr>
              <a:defRPr sz="1800">
                <a:latin typeface="IBM Plex Sans" panose="020B0503050203000203" pitchFamily="34" charset="77"/>
              </a:defRPr>
            </a:lvl2pPr>
            <a:lvl3pPr>
              <a:defRPr sz="1600">
                <a:latin typeface="IBM Plex Sans" panose="020B0503050203000203" pitchFamily="34" charset="77"/>
              </a:defRPr>
            </a:lvl3pPr>
            <a:lvl4pPr>
              <a:defRPr sz="1400">
                <a:latin typeface="IBM Plex Sans" panose="020B0503050203000203" pitchFamily="34" charset="77"/>
              </a:defRPr>
            </a:lvl4pPr>
            <a:lvl5pPr>
              <a:defRPr sz="1400">
                <a:latin typeface="IBM Plex Sans" panose="020B0503050203000203" pitchFamily="34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s-ES_tradnl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23567CF-573A-8848-8625-1FB85F48C5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740" y="635302"/>
            <a:ext cx="11167298" cy="444026"/>
          </a:xfrm>
          <a:prstGeom prst="rect">
            <a:avLst/>
          </a:prstGeom>
          <a:ln w="12700">
            <a:miter lim="400000"/>
          </a:ln>
        </p:spPr>
        <p:txBody>
          <a:bodyPr wrap="square" lIns="25397" tIns="25397" rIns="25397" bIns="25397">
            <a:spAutoFit/>
          </a:bodyPr>
          <a:lstStyle>
            <a:lvl1pPr>
              <a:defRPr lang="en-US" sz="3200" b="1" kern="0" dirty="0">
                <a:solidFill>
                  <a:schemeClr val="bg2">
                    <a:lumMod val="10000"/>
                  </a:schemeClr>
                </a:solidFill>
                <a:latin typeface="IBM Plex Sans"/>
                <a:ea typeface="+mn-ea"/>
                <a:cs typeface="+mn-cs"/>
              </a:defRPr>
            </a:lvl1pPr>
          </a:lstStyle>
          <a:p>
            <a:pPr marL="0" lvl="0" defTabSz="410714" fontAlgn="auto" hangingPunct="0">
              <a:lnSpc>
                <a:spcPts val="2951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Título</a:t>
            </a:r>
            <a:endParaRPr lang="en-US" dirty="0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E4FEC6C3-306A-AD43-94FF-A97C2587AC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8740" y="368165"/>
            <a:ext cx="6378706" cy="173637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 anchor="b">
            <a:spAutoFit/>
          </a:bodyPr>
          <a:lstStyle>
            <a:lvl1pPr marL="0" indent="0">
              <a:buNone/>
              <a:defRPr lang="es-ES_tradnl" sz="1100" b="1" kern="0" cap="all" spc="108" dirty="0">
                <a:solidFill>
                  <a:schemeClr val="tx1"/>
                </a:solidFill>
                <a:latin typeface="IBM Plex Sans"/>
              </a:defRPr>
            </a:lvl1pPr>
          </a:lstStyle>
          <a:p>
            <a:pPr marL="0" lvl="0" defTabSz="410755" fontAlgn="auto" hangingPunct="0">
              <a:lnSpc>
                <a:spcPts val="900"/>
              </a:lnSpc>
              <a:spcBef>
                <a:spcPts val="2251"/>
              </a:spcBef>
              <a:spcAft>
                <a:spcPts val="0"/>
              </a:spcAft>
            </a:pPr>
            <a:r>
              <a:rPr lang="es-ES_tradnl" dirty="0" err="1"/>
              <a:t>SECCIón</a:t>
            </a:r>
            <a:endParaRPr lang="es-ES_tradnl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E12931-882C-4AF0-9454-132C7FEE65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9324" y="6108289"/>
            <a:ext cx="418832" cy="459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2270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3127DE8-31A7-1A48-AA7E-9091180D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AC7C386-A780-C644-877A-C2B6C8F88A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A5B0D0-D974-B240-8807-9A201EAF7A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D90BAF-B0B3-3941-BFBD-D38D95290204}" type="datetimeFigureOut">
              <a:rPr lang="es-ES" smtClean="0"/>
              <a:t>25/2/26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C749C2-2F81-AD4C-8CC8-F7D72CD138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237A86B-9A2F-1A4D-A1AA-BBFF8D171F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578EFD-69B2-7C4F-9E14-4D6D02237A7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8467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B56A2EF-800B-CA0A-99A0-253DE897A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lide Number Placeholder 3">
            <a:extLst>
              <a:ext uri="{FF2B5EF4-FFF2-40B4-BE49-F238E27FC236}">
                <a16:creationId xmlns:a16="http://schemas.microsoft.com/office/drawing/2014/main" id="{F5982805-ED8B-0365-71F6-E6794CE4E827}"/>
              </a:ext>
            </a:extLst>
          </p:cNvPr>
          <p:cNvSpPr txBox="1">
            <a:spLocks/>
          </p:cNvSpPr>
          <p:nvPr/>
        </p:nvSpPr>
        <p:spPr>
          <a:xfrm>
            <a:off x="11683650" y="151202"/>
            <a:ext cx="370578" cy="20116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67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uk-UA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IBM Plex Sans" charset="0"/>
                <a:ea typeface="IBM Plex Sans" charset="0"/>
                <a:cs typeface="IBM Plex Sans" charset="0"/>
                <a:sym typeface="Arial"/>
              </a:defRPr>
            </a:lvl1pPr>
            <a:lvl2pPr marL="0" marR="0" indent="0" algn="l" defTabSz="467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467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467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4pPr>
            <a:lvl5pPr marL="0" marR="0" indent="0" algn="l" defTabSz="467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5pPr>
            <a:lvl6pPr marL="0" marR="0" indent="0" algn="l" defTabSz="467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6pPr>
            <a:lvl7pPr marL="0" marR="0" indent="0" algn="l" defTabSz="467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467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467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467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14FB1E-E660-F74D-BC29-F339B17ACE97}" type="slidenum">
              <a:rPr kumimoji="0" lang="es-ES" sz="1200" b="1" i="0" u="none" strike="noStrike" kern="0" cap="none" spc="0" normalizeH="0" baseline="0" noProof="0" smtClean="0">
                <a:ln>
                  <a:noFill/>
                </a:ln>
                <a:solidFill>
                  <a:srgbClr val="FB4D56"/>
                </a:solidFill>
                <a:effectLst/>
                <a:uLnTx/>
                <a:uFillTx/>
                <a:latin typeface="IBM Plex Sans" charset="0"/>
                <a:sym typeface="Arial"/>
              </a:rPr>
              <a:pPr marL="0" marR="0" lvl="0" indent="0" algn="ctr" defTabSz="467532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1" i="0" u="none" strike="noStrike" kern="0" cap="none" spc="0" normalizeH="0" baseline="0" noProof="0" dirty="0">
              <a:ln>
                <a:noFill/>
              </a:ln>
              <a:solidFill>
                <a:srgbClr val="FB4D56"/>
              </a:solidFill>
              <a:effectLst/>
              <a:uLnTx/>
              <a:uFillTx/>
              <a:latin typeface="IBM Plex Sans" charset="0"/>
              <a:sym typeface="Arial"/>
            </a:endParaRPr>
          </a:p>
        </p:txBody>
      </p:sp>
      <p:sp>
        <p:nvSpPr>
          <p:cNvPr id="26" name="Title 3">
            <a:extLst>
              <a:ext uri="{FF2B5EF4-FFF2-40B4-BE49-F238E27FC236}">
                <a16:creationId xmlns:a16="http://schemas.microsoft.com/office/drawing/2014/main" id="{6764D2FF-5AFC-AB54-3944-AD310144BEF4}"/>
              </a:ext>
            </a:extLst>
          </p:cNvPr>
          <p:cNvSpPr txBox="1">
            <a:spLocks/>
          </p:cNvSpPr>
          <p:nvPr/>
        </p:nvSpPr>
        <p:spPr>
          <a:xfrm>
            <a:off x="1133915" y="257995"/>
            <a:ext cx="10361928" cy="383689"/>
          </a:xfrm>
          <a:prstGeom prst="rect">
            <a:avLst/>
          </a:prstGeom>
          <a:ln w="12700">
            <a:miter lim="400000"/>
          </a:ln>
        </p:spPr>
        <p:txBody>
          <a:bodyPr vert="horz" wrap="square" lIns="25397" tIns="25397" rIns="25397" bIns="25397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0" dirty="0">
                <a:solidFill>
                  <a:schemeClr val="bg2">
                    <a:lumMod val="10000"/>
                  </a:schemeClr>
                </a:solidFill>
                <a:latin typeface="IBM Plex Sans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400" b="1" i="0" u="none" strike="noStrike" kern="0" cap="none" spc="0" normalizeH="0" baseline="0" noProof="0" dirty="0">
                <a:ln>
                  <a:noFill/>
                </a:ln>
                <a:solidFill>
                  <a:srgbClr val="FB4D56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CRITERIOS DE EVALUACIÓN; LIGA Y CHAMPIONS</a:t>
            </a:r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0CF119F6-F0A1-3789-BBAF-16F551F1EE5C}"/>
              </a:ext>
            </a:extLst>
          </p:cNvPr>
          <p:cNvCxnSpPr/>
          <p:nvPr/>
        </p:nvCxnSpPr>
        <p:spPr>
          <a:xfrm flipV="1">
            <a:off x="983848" y="0"/>
            <a:ext cx="0" cy="641684"/>
          </a:xfrm>
          <a:prstGeom prst="line">
            <a:avLst/>
          </a:prstGeom>
          <a:ln w="12700">
            <a:solidFill>
              <a:srgbClr val="FB4D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3">
            <a:extLst>
              <a:ext uri="{FF2B5EF4-FFF2-40B4-BE49-F238E27FC236}">
                <a16:creationId xmlns:a16="http://schemas.microsoft.com/office/drawing/2014/main" id="{AAC39ED5-B26D-5C1B-6813-CD1451FCFF6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5598" y="197998"/>
            <a:ext cx="500444" cy="696804"/>
          </a:xfrm>
          <a:prstGeom prst="rect">
            <a:avLst/>
          </a:prstGeom>
        </p:spPr>
      </p:pic>
      <p:sp>
        <p:nvSpPr>
          <p:cNvPr id="4" name="TextBox 2">
            <a:extLst>
              <a:ext uri="{FF2B5EF4-FFF2-40B4-BE49-F238E27FC236}">
                <a16:creationId xmlns:a16="http://schemas.microsoft.com/office/drawing/2014/main" id="{DDC60873-30A1-2FB1-6F46-14F698281ABC}"/>
              </a:ext>
            </a:extLst>
          </p:cNvPr>
          <p:cNvSpPr txBox="1"/>
          <p:nvPr/>
        </p:nvSpPr>
        <p:spPr>
          <a:xfrm>
            <a:off x="983848" y="621853"/>
            <a:ext cx="107199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F62FE"/>
              </a:buClr>
              <a:buSzTx/>
              <a:buFontTx/>
              <a:buNone/>
              <a:tabLst/>
              <a:defRPr/>
            </a:pPr>
            <a:r>
              <a:rPr kumimoji="0" lang="es-ES_tradnl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*El trabajo y la presentación serán evaluados por el jurado siguiendo unos criterios ya definidos:</a:t>
            </a:r>
            <a:endParaRPr kumimoji="0" lang="es-ES_tradnl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86CF4E7-31DF-BC42-E122-1D9771005D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237" y="1053126"/>
            <a:ext cx="10719975" cy="721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0F62FE"/>
              </a:buClr>
              <a:buSzTx/>
              <a:buFontTx/>
              <a:buNone/>
              <a:tabLst/>
              <a:defRPr/>
            </a:pPr>
            <a:r>
              <a:rPr kumimoji="0" lang="es-E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B4D56"/>
                </a:solidFill>
                <a:effectLst/>
                <a:uLnTx/>
                <a:uFillTx/>
                <a:latin typeface="IBM Plex Sans" panose="020B0503050203000203" pitchFamily="34" charset="0"/>
                <a:ea typeface="HelvNeue for IBM" charset="0"/>
                <a:cs typeface="HelvNeue for IBM" charset="0"/>
              </a:rPr>
              <a:t>Pitch FINAL para enamorar al jurado: ¿por qué vuestra idea de negocio es la mejor? </a:t>
            </a:r>
          </a:p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0F62FE"/>
              </a:buClr>
              <a:buSzTx/>
              <a:buFontTx/>
              <a:buNone/>
              <a:tabLst/>
              <a:defRPr/>
            </a:pPr>
            <a:r>
              <a:rPr kumimoji="0" lang="es-ES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 panose="020B0503050203000203" pitchFamily="34" charset="0"/>
                <a:ea typeface="HelvNeue for IBM" charset="0"/>
                <a:cs typeface="HelvNeue for IBM" charset="0"/>
              </a:rPr>
              <a:t>Puntuación del 1 al 5 por el jurado, siguiendo los siguientes criterios:</a:t>
            </a:r>
            <a:endParaRPr kumimoji="0" lang="es-E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 panose="020B0503050203000203" pitchFamily="34" charset="0"/>
              <a:ea typeface="HelvNeue for IBM" charset="0"/>
              <a:cs typeface="HelvNeue for IBM" charset="0"/>
            </a:endParaRP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CA776A03-EB24-ECDC-F79E-A4900D071B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6868315"/>
              </p:ext>
            </p:extLst>
          </p:nvPr>
        </p:nvGraphicFramePr>
        <p:xfrm>
          <a:off x="796042" y="2006927"/>
          <a:ext cx="8869491" cy="4725080"/>
        </p:xfrm>
        <a:graphic>
          <a:graphicData uri="http://schemas.openxmlformats.org/drawingml/2006/table">
            <a:tbl>
              <a:tblPr/>
              <a:tblGrid>
                <a:gridCol w="2651006">
                  <a:extLst>
                    <a:ext uri="{9D8B030D-6E8A-4147-A177-3AD203B41FA5}">
                      <a16:colId xmlns:a16="http://schemas.microsoft.com/office/drawing/2014/main" val="1630145528"/>
                    </a:ext>
                  </a:extLst>
                </a:gridCol>
                <a:gridCol w="904171">
                  <a:extLst>
                    <a:ext uri="{9D8B030D-6E8A-4147-A177-3AD203B41FA5}">
                      <a16:colId xmlns:a16="http://schemas.microsoft.com/office/drawing/2014/main" val="2726139632"/>
                    </a:ext>
                  </a:extLst>
                </a:gridCol>
                <a:gridCol w="885719">
                  <a:extLst>
                    <a:ext uri="{9D8B030D-6E8A-4147-A177-3AD203B41FA5}">
                      <a16:colId xmlns:a16="http://schemas.microsoft.com/office/drawing/2014/main" val="3918647598"/>
                    </a:ext>
                  </a:extLst>
                </a:gridCol>
                <a:gridCol w="885719">
                  <a:extLst>
                    <a:ext uri="{9D8B030D-6E8A-4147-A177-3AD203B41FA5}">
                      <a16:colId xmlns:a16="http://schemas.microsoft.com/office/drawing/2014/main" val="3563088231"/>
                    </a:ext>
                  </a:extLst>
                </a:gridCol>
                <a:gridCol w="885719">
                  <a:extLst>
                    <a:ext uri="{9D8B030D-6E8A-4147-A177-3AD203B41FA5}">
                      <a16:colId xmlns:a16="http://schemas.microsoft.com/office/drawing/2014/main" val="1525226357"/>
                    </a:ext>
                  </a:extLst>
                </a:gridCol>
                <a:gridCol w="885719">
                  <a:extLst>
                    <a:ext uri="{9D8B030D-6E8A-4147-A177-3AD203B41FA5}">
                      <a16:colId xmlns:a16="http://schemas.microsoft.com/office/drawing/2014/main" val="2862559647"/>
                    </a:ext>
                  </a:extLst>
                </a:gridCol>
                <a:gridCol w="885719">
                  <a:extLst>
                    <a:ext uri="{9D8B030D-6E8A-4147-A177-3AD203B41FA5}">
                      <a16:colId xmlns:a16="http://schemas.microsoft.com/office/drawing/2014/main" val="1126172415"/>
                    </a:ext>
                  </a:extLst>
                </a:gridCol>
                <a:gridCol w="885719">
                  <a:extLst>
                    <a:ext uri="{9D8B030D-6E8A-4147-A177-3AD203B41FA5}">
                      <a16:colId xmlns:a16="http://schemas.microsoft.com/office/drawing/2014/main" val="694498844"/>
                    </a:ext>
                  </a:extLst>
                </a:gridCol>
              </a:tblGrid>
              <a:tr h="173197"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Criterio</a:t>
                      </a: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Peso del criterio</a:t>
                      </a: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1 - Muy bajo</a:t>
                      </a: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2 - Bajo</a:t>
                      </a: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3 - Medio</a:t>
                      </a: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4 - Alto</a:t>
                      </a: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5 - Muy alto</a:t>
                      </a: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A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PUNTOS</a:t>
                      </a: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A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320244"/>
                  </a:ext>
                </a:extLst>
              </a:tr>
              <a:tr h="364625"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¿Se ha definido bien y de forma detallada el problema que resuelve la solución?</a:t>
                      </a: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10%</a:t>
                      </a: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100" b="0" i="0" u="none" strike="noStrike" dirty="0">
                        <a:solidFill>
                          <a:srgbClr val="0D0D0D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7412048"/>
                  </a:ext>
                </a:extLst>
              </a:tr>
              <a:tr h="264353"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Alineamiento con la temática propuesta</a:t>
                      </a: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10%</a:t>
                      </a: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100" b="0" i="0" u="none" strike="noStrike" dirty="0">
                        <a:solidFill>
                          <a:srgbClr val="0D0D0D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276651"/>
                  </a:ext>
                </a:extLst>
              </a:tr>
              <a:tr h="309931"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¿Es técnicamente viable/factible? </a:t>
                      </a: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10%</a:t>
                      </a: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100" b="0" i="0" u="none" strike="noStrike" dirty="0">
                        <a:solidFill>
                          <a:srgbClr val="0D0D0D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791097"/>
                  </a:ext>
                </a:extLst>
              </a:tr>
              <a:tr h="364625"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¿Cuánto de fácil sería hacerlo realidad? ¿ Es económicamente viable?</a:t>
                      </a: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15%</a:t>
                      </a: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100" b="0" i="0" u="none" strike="noStrike" dirty="0">
                        <a:solidFill>
                          <a:srgbClr val="0D0D0D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63939"/>
                  </a:ext>
                </a:extLst>
              </a:tr>
              <a:tr h="546937"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Presentación: ¿El pitch y la presentación son atractivas y consiguen explicar el valor de la idea correctamente?</a:t>
                      </a: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10%</a:t>
                      </a: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100" b="0" i="0" u="none" strike="noStrike" dirty="0">
                        <a:solidFill>
                          <a:srgbClr val="0D0D0D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9698570"/>
                  </a:ext>
                </a:extLst>
              </a:tr>
              <a:tr h="546937"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Equipo: ¿Tiene el equipo las </a:t>
                      </a:r>
                      <a:r>
                        <a:rPr lang="es-ES" sz="10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skills</a:t>
                      </a:r>
                      <a:r>
                        <a:rPr lang="es-E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 adecuadas para presentar y defender la idea frente a las preguntas del jurado?</a:t>
                      </a: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10%</a:t>
                      </a: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100" b="0" i="0" u="none" strike="noStrike" dirty="0">
                        <a:solidFill>
                          <a:srgbClr val="0D0D0D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4832210"/>
                  </a:ext>
                </a:extLst>
              </a:tr>
              <a:tr h="364625"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¿Está aterrizada y bien definida según la metodología Lean Canvas?</a:t>
                      </a: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10%</a:t>
                      </a: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100" b="0" i="0" u="none" strike="noStrike" dirty="0">
                        <a:solidFill>
                          <a:srgbClr val="0D0D0D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8428011"/>
                  </a:ext>
                </a:extLst>
              </a:tr>
              <a:tr h="313121"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¿Es una solución innovadora que no está en el mercado?</a:t>
                      </a: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10%</a:t>
                      </a: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100" b="0" i="0" u="none" strike="noStrike" dirty="0">
                        <a:solidFill>
                          <a:srgbClr val="0D0D0D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9598658"/>
                  </a:ext>
                </a:extLst>
              </a:tr>
              <a:tr h="729249"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¿El equipo ha considerado el impacto de su solución, buscando activamente maneras de mejorar la equidad, diversidad o sostenibilidad dentro de su área de actividad/sector?</a:t>
                      </a: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10%</a:t>
                      </a: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100" b="0" i="0" u="none" strike="noStrike" dirty="0">
                        <a:solidFill>
                          <a:srgbClr val="0D0D0D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995482"/>
                  </a:ext>
                </a:extLst>
              </a:tr>
              <a:tr h="373740"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Extra: ¿Nuestro mercado estaría dispuesto a pagar por ello?</a:t>
                      </a: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5%</a:t>
                      </a: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100" b="0" i="0" u="none" strike="noStrike" dirty="0">
                        <a:solidFill>
                          <a:srgbClr val="0D0D0D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144195"/>
                  </a:ext>
                </a:extLst>
              </a:tr>
              <a:tr h="373740">
                <a:tc>
                  <a:txBody>
                    <a:bodyPr/>
                    <a:lstStyle/>
                    <a:p>
                      <a:pPr algn="l" fontAlgn="b"/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37" marR="6837" marT="6837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37" marR="6837" marT="6837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100" b="0" i="0" u="none" strike="noStrike" dirty="0">
                        <a:solidFill>
                          <a:srgbClr val="0D0D0D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37" marR="6837" marT="6837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37" marR="6837" marT="6837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37" marR="6837" marT="6837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S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TOTAL PUNTOS</a:t>
                      </a: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4D5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s-ES" sz="1000" b="1" i="0" u="none" strike="noStrike" kern="1200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6837" marR="6837" marT="68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784895"/>
                  </a:ext>
                </a:extLst>
              </a:tr>
            </a:tbl>
          </a:graphicData>
        </a:graphic>
      </p:graphicFrame>
      <p:sp>
        <p:nvSpPr>
          <p:cNvPr id="8" name="Elipse 7">
            <a:extLst>
              <a:ext uri="{FF2B5EF4-FFF2-40B4-BE49-F238E27FC236}">
                <a16:creationId xmlns:a16="http://schemas.microsoft.com/office/drawing/2014/main" id="{8CD75AB8-7171-C947-C7E2-EC34669C747B}"/>
              </a:ext>
            </a:extLst>
          </p:cNvPr>
          <p:cNvSpPr/>
          <p:nvPr/>
        </p:nvSpPr>
        <p:spPr>
          <a:xfrm>
            <a:off x="502972" y="2252127"/>
            <a:ext cx="208987" cy="240281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IBM Plex Sans" panose="020B0503050203000203" pitchFamily="34" charset="0"/>
              </a:rPr>
              <a:t>1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FCEAEC75-23A0-D214-3439-088D2CC8FBA3}"/>
              </a:ext>
            </a:extLst>
          </p:cNvPr>
          <p:cNvSpPr/>
          <p:nvPr/>
        </p:nvSpPr>
        <p:spPr>
          <a:xfrm>
            <a:off x="502972" y="2597509"/>
            <a:ext cx="208987" cy="240281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IBM Plex Sans" panose="020B0503050203000203" pitchFamily="34" charset="0"/>
              </a:rPr>
              <a:t>2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4D4A6AB6-6C93-DD88-1F8C-C0193CF37A9F}"/>
              </a:ext>
            </a:extLst>
          </p:cNvPr>
          <p:cNvSpPr/>
          <p:nvPr/>
        </p:nvSpPr>
        <p:spPr>
          <a:xfrm>
            <a:off x="502972" y="2915450"/>
            <a:ext cx="208987" cy="240281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IBM Plex Sans" panose="020B0503050203000203" pitchFamily="34" charset="0"/>
              </a:rPr>
              <a:t>3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CAD26A5A-D9B9-B4AA-129B-4EA301F1B245}"/>
              </a:ext>
            </a:extLst>
          </p:cNvPr>
          <p:cNvSpPr/>
          <p:nvPr/>
        </p:nvSpPr>
        <p:spPr>
          <a:xfrm>
            <a:off x="502972" y="3229302"/>
            <a:ext cx="208987" cy="240281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IBM Plex Sans" panose="020B0503050203000203" pitchFamily="34" charset="0"/>
              </a:rPr>
              <a:t>4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AB80918E-C9C4-28A0-EF77-D8EFC02BC4A0}"/>
              </a:ext>
            </a:extLst>
          </p:cNvPr>
          <p:cNvSpPr/>
          <p:nvPr/>
        </p:nvSpPr>
        <p:spPr>
          <a:xfrm>
            <a:off x="502972" y="3649716"/>
            <a:ext cx="208987" cy="240281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IBM Plex Sans" panose="020B0503050203000203" pitchFamily="34" charset="0"/>
              </a:rPr>
              <a:t>5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028293B9-EADD-0977-3568-9A362B5B2E43}"/>
              </a:ext>
            </a:extLst>
          </p:cNvPr>
          <p:cNvSpPr/>
          <p:nvPr/>
        </p:nvSpPr>
        <p:spPr>
          <a:xfrm>
            <a:off x="502972" y="4164726"/>
            <a:ext cx="208987" cy="240281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IBM Plex Sans" panose="020B0503050203000203" pitchFamily="34" charset="0"/>
              </a:rPr>
              <a:t>6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9AD1D3B9-E784-E482-77E4-F2AAF418CD34}"/>
              </a:ext>
            </a:extLst>
          </p:cNvPr>
          <p:cNvSpPr/>
          <p:nvPr/>
        </p:nvSpPr>
        <p:spPr>
          <a:xfrm>
            <a:off x="502972" y="4627180"/>
            <a:ext cx="208987" cy="240281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IBM Plex Sans" panose="020B0503050203000203" pitchFamily="34" charset="0"/>
              </a:rPr>
              <a:t>7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A7153B32-7980-A253-D171-3898F86DD29A}"/>
              </a:ext>
            </a:extLst>
          </p:cNvPr>
          <p:cNvSpPr/>
          <p:nvPr/>
        </p:nvSpPr>
        <p:spPr>
          <a:xfrm>
            <a:off x="502972" y="4985714"/>
            <a:ext cx="208987" cy="240281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IBM Plex Sans" panose="020B0503050203000203" pitchFamily="34" charset="0"/>
              </a:rPr>
              <a:t>8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1F2BF197-EC69-637B-4D8D-EF1FB18750A3}"/>
              </a:ext>
            </a:extLst>
          </p:cNvPr>
          <p:cNvSpPr/>
          <p:nvPr/>
        </p:nvSpPr>
        <p:spPr>
          <a:xfrm>
            <a:off x="502972" y="5458678"/>
            <a:ext cx="208987" cy="240281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IBM Plex Sans" panose="020B0503050203000203" pitchFamily="34" charset="0"/>
              </a:rPr>
              <a:t>9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26971C68-8B1C-B7A6-5A2E-DFE80A666028}"/>
              </a:ext>
            </a:extLst>
          </p:cNvPr>
          <p:cNvSpPr/>
          <p:nvPr/>
        </p:nvSpPr>
        <p:spPr>
          <a:xfrm>
            <a:off x="502972" y="6057766"/>
            <a:ext cx="208987" cy="24028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IBM Plex Sans" panose="020B0503050203000203" pitchFamily="34" charset="0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2532348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B56A2EF-800B-CA0A-99A0-253DE897A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lide Number Placeholder 3">
            <a:extLst>
              <a:ext uri="{FF2B5EF4-FFF2-40B4-BE49-F238E27FC236}">
                <a16:creationId xmlns:a16="http://schemas.microsoft.com/office/drawing/2014/main" id="{F5982805-ED8B-0365-71F6-E6794CE4E827}"/>
              </a:ext>
            </a:extLst>
          </p:cNvPr>
          <p:cNvSpPr txBox="1">
            <a:spLocks/>
          </p:cNvSpPr>
          <p:nvPr/>
        </p:nvSpPr>
        <p:spPr>
          <a:xfrm>
            <a:off x="11683650" y="151202"/>
            <a:ext cx="370578" cy="20116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67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uk-UA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IBM Plex Sans" charset="0"/>
                <a:ea typeface="IBM Plex Sans" charset="0"/>
                <a:cs typeface="IBM Plex Sans" charset="0"/>
                <a:sym typeface="Arial"/>
              </a:defRPr>
            </a:lvl1pPr>
            <a:lvl2pPr marL="0" marR="0" indent="0" algn="l" defTabSz="467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467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467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4pPr>
            <a:lvl5pPr marL="0" marR="0" indent="0" algn="l" defTabSz="467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5pPr>
            <a:lvl6pPr marL="0" marR="0" indent="0" algn="l" defTabSz="467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6pPr>
            <a:lvl7pPr marL="0" marR="0" indent="0" algn="l" defTabSz="467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467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467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467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14FB1E-E660-F74D-BC29-F339B17ACE97}" type="slidenum">
              <a:rPr kumimoji="0" lang="es-ES" sz="1200" b="1" i="0" u="none" strike="noStrike" kern="0" cap="none" spc="0" normalizeH="0" baseline="0" noProof="0" smtClean="0">
                <a:ln>
                  <a:noFill/>
                </a:ln>
                <a:solidFill>
                  <a:srgbClr val="FB4D56"/>
                </a:solidFill>
                <a:effectLst/>
                <a:uLnTx/>
                <a:uFillTx/>
                <a:latin typeface="IBM Plex Sans" charset="0"/>
                <a:sym typeface="Arial"/>
              </a:rPr>
              <a:pPr marL="0" marR="0" lvl="0" indent="0" algn="ctr" defTabSz="467532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ES" sz="1200" b="1" i="0" u="none" strike="noStrike" kern="0" cap="none" spc="0" normalizeH="0" baseline="0" noProof="0" dirty="0">
              <a:ln>
                <a:noFill/>
              </a:ln>
              <a:solidFill>
                <a:srgbClr val="FB4D56"/>
              </a:solidFill>
              <a:effectLst/>
              <a:uLnTx/>
              <a:uFillTx/>
              <a:latin typeface="IBM Plex Sans" charset="0"/>
              <a:sym typeface="Arial"/>
            </a:endParaRPr>
          </a:p>
        </p:txBody>
      </p:sp>
      <p:sp>
        <p:nvSpPr>
          <p:cNvPr id="26" name="Title 3">
            <a:extLst>
              <a:ext uri="{FF2B5EF4-FFF2-40B4-BE49-F238E27FC236}">
                <a16:creationId xmlns:a16="http://schemas.microsoft.com/office/drawing/2014/main" id="{6764D2FF-5AFC-AB54-3944-AD310144BEF4}"/>
              </a:ext>
            </a:extLst>
          </p:cNvPr>
          <p:cNvSpPr txBox="1">
            <a:spLocks/>
          </p:cNvSpPr>
          <p:nvPr/>
        </p:nvSpPr>
        <p:spPr>
          <a:xfrm>
            <a:off x="1133915" y="257995"/>
            <a:ext cx="10361928" cy="383689"/>
          </a:xfrm>
          <a:prstGeom prst="rect">
            <a:avLst/>
          </a:prstGeom>
          <a:ln w="12700">
            <a:miter lim="400000"/>
          </a:ln>
        </p:spPr>
        <p:txBody>
          <a:bodyPr vert="horz" wrap="square" lIns="25397" tIns="25397" rIns="25397" bIns="25397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0" dirty="0">
                <a:solidFill>
                  <a:schemeClr val="bg2">
                    <a:lumMod val="10000"/>
                  </a:schemeClr>
                </a:solidFill>
                <a:latin typeface="IBM Plex Sans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400" b="1" i="0" u="none" strike="noStrike" kern="0" cap="none" spc="0" normalizeH="0" baseline="0" noProof="0" dirty="0">
                <a:ln>
                  <a:noFill/>
                </a:ln>
                <a:solidFill>
                  <a:srgbClr val="FB4D56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CRITERIOS DE EVALUACIÓN; LIGA Y CHAMPIONS</a:t>
            </a:r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0CF119F6-F0A1-3789-BBAF-16F551F1EE5C}"/>
              </a:ext>
            </a:extLst>
          </p:cNvPr>
          <p:cNvCxnSpPr/>
          <p:nvPr/>
        </p:nvCxnSpPr>
        <p:spPr>
          <a:xfrm flipV="1">
            <a:off x="983848" y="0"/>
            <a:ext cx="0" cy="641684"/>
          </a:xfrm>
          <a:prstGeom prst="line">
            <a:avLst/>
          </a:prstGeom>
          <a:ln w="12700">
            <a:solidFill>
              <a:srgbClr val="FB4D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3">
            <a:extLst>
              <a:ext uri="{FF2B5EF4-FFF2-40B4-BE49-F238E27FC236}">
                <a16:creationId xmlns:a16="http://schemas.microsoft.com/office/drawing/2014/main" id="{AAC39ED5-B26D-5C1B-6813-CD1451FCFF6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5598" y="197998"/>
            <a:ext cx="500444" cy="696804"/>
          </a:xfrm>
          <a:prstGeom prst="rect">
            <a:avLst/>
          </a:prstGeom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C86CF4E7-31DF-BC42-E122-1D9771005D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3915" y="602577"/>
            <a:ext cx="10719975" cy="394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>
                <a:srgbClr val="0F62FE"/>
              </a:buClr>
              <a:buSzTx/>
              <a:buFontTx/>
              <a:buNone/>
              <a:tabLst/>
              <a:defRPr/>
            </a:pPr>
            <a:r>
              <a:rPr kumimoji="0" lang="es-ES" altLang="en-US" sz="1600" i="0" u="sng" strike="noStrike" kern="1200" cap="none" spc="0" normalizeH="0" baseline="0" noProof="0" dirty="0">
                <a:ln>
                  <a:noFill/>
                </a:ln>
                <a:solidFill>
                  <a:srgbClr val="FC4D56"/>
                </a:solidFill>
                <a:effectLst/>
                <a:uLnTx/>
                <a:uFillTx/>
                <a:latin typeface="IBM Plex Sans" panose="020B0503050203000203" pitchFamily="34" charset="0"/>
                <a:ea typeface="HelvNeue for IBM" charset="0"/>
                <a:cs typeface="HelvNeue for IBM" charset="0"/>
              </a:rPr>
              <a:t>Cada criterio evaluado tiene una razón de ser….. ¡Te la contamos!</a:t>
            </a:r>
          </a:p>
        </p:txBody>
      </p:sp>
      <p:pic>
        <p:nvPicPr>
          <p:cNvPr id="6" name="Imagen 5" descr="Forma, Rectángulo&#10;&#10;Descripción generada automáticamente">
            <a:extLst>
              <a:ext uri="{FF2B5EF4-FFF2-40B4-BE49-F238E27FC236}">
                <a16:creationId xmlns:a16="http://schemas.microsoft.com/office/drawing/2014/main" id="{F7E053D6-1B88-3D6E-1DC1-C0A2815B5C0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alphaModFix amt="20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599" y="1210068"/>
            <a:ext cx="3835894" cy="1684381"/>
          </a:xfrm>
          <a:prstGeom prst="rect">
            <a:avLst/>
          </a:prstGeom>
        </p:spPr>
      </p:pic>
      <p:sp>
        <p:nvSpPr>
          <p:cNvPr id="8" name="Textplatzhalter 2">
            <a:extLst>
              <a:ext uri="{FF2B5EF4-FFF2-40B4-BE49-F238E27FC236}">
                <a16:creationId xmlns:a16="http://schemas.microsoft.com/office/drawing/2014/main" id="{4B000CDD-75DC-CDA1-34F6-89DF93B2AFE0}"/>
              </a:ext>
            </a:extLst>
          </p:cNvPr>
          <p:cNvSpPr txBox="1">
            <a:spLocks/>
          </p:cNvSpPr>
          <p:nvPr/>
        </p:nvSpPr>
        <p:spPr>
          <a:xfrm>
            <a:off x="796043" y="1305406"/>
            <a:ext cx="3335450" cy="322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 marL="0" marR="0" indent="0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solidFill>
                  <a:srgbClr val="002A9B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228600" marR="0" indent="-228600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Char char="-"/>
              <a:tabLst/>
              <a:defRPr sz="1600" b="0" i="0" u="none" strike="noStrike" cap="none" spc="0" baseline="0">
                <a:solidFill>
                  <a:schemeClr val="accent1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457200" marR="0" indent="-228600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80000"/>
              <a:buFontTx/>
              <a:buChar char="•"/>
              <a:tabLst/>
              <a:defRPr sz="1600" b="0" i="0" u="none" strike="noStrike" cap="none" spc="0" baseline="0">
                <a:solidFill>
                  <a:schemeClr val="accent1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685800" marR="0" indent="-228600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600" b="0" i="0" u="none" strike="noStrike" cap="none" spc="0" baseline="0">
                <a:solidFill>
                  <a:schemeClr val="accent1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868680" marR="0" indent="-182880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80000"/>
              <a:buFontTx/>
              <a:buChar char="•"/>
              <a:tabLst/>
              <a:defRPr sz="1600" b="0" i="0" u="none" strike="noStrike" cap="none" spc="0" baseline="0">
                <a:solidFill>
                  <a:schemeClr val="accent1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3004457" marR="0" indent="-261257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3553097" marR="0" indent="-261257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4101737" marR="0" indent="-261257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4650377" marR="0" indent="-261257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hangingPunct="1"/>
            <a:r>
              <a:rPr lang="es-ES_tradnl" sz="1300" dirty="0">
                <a:solidFill>
                  <a:schemeClr val="tx1"/>
                </a:solidFill>
              </a:rPr>
              <a:t>¿Se ha definido bien y de forma detallada el problema que resuelve la solución?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1C6BC6A6-F92D-5317-9BB5-88229B038595}"/>
              </a:ext>
            </a:extLst>
          </p:cNvPr>
          <p:cNvSpPr/>
          <p:nvPr/>
        </p:nvSpPr>
        <p:spPr>
          <a:xfrm>
            <a:off x="295598" y="1143945"/>
            <a:ext cx="457200" cy="519348"/>
          </a:xfrm>
          <a:prstGeom prst="ellipse">
            <a:avLst/>
          </a:prstGeom>
          <a:solidFill>
            <a:srgbClr val="FC4D56"/>
          </a:solidFill>
          <a:ln w="12700" cap="flat">
            <a:solidFill>
              <a:schemeClr val="accent2">
                <a:lumMod val="20000"/>
                <a:lumOff val="80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10972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IBM Plex Sans" panose="020B0503050203000203" pitchFamily="34" charset="0"/>
                <a:sym typeface="Arial"/>
              </a:rPr>
              <a:t>1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3474A88-A36B-A751-A241-6FE9592E572E}"/>
              </a:ext>
            </a:extLst>
          </p:cNvPr>
          <p:cNvSpPr txBox="1"/>
          <p:nvPr/>
        </p:nvSpPr>
        <p:spPr>
          <a:xfrm>
            <a:off x="545820" y="1752669"/>
            <a:ext cx="3585672" cy="10524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104999"/>
              </a:lnSpc>
              <a:spcBef>
                <a:spcPts val="1200"/>
              </a:spcBef>
              <a:defRPr sz="2000">
                <a:solidFill>
                  <a:schemeClr val="accent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</a:lstStyle>
          <a:p>
            <a:r>
              <a:rPr lang="es-ES_tradnl" sz="1200" u="sng" dirty="0">
                <a:solidFill>
                  <a:schemeClr val="tx2"/>
                </a:solidFill>
              </a:rPr>
              <a:t>Enamórate de tu problema. </a:t>
            </a:r>
            <a:r>
              <a:rPr lang="es-ES_tradnl" sz="1200" dirty="0">
                <a:solidFill>
                  <a:schemeClr val="tx2"/>
                </a:solidFill>
              </a:rPr>
              <a:t> Este criterio va a evaluar la claridad y precisión con la que el equipo identifica y describe el problema que su solución pretende resolver y si ha logrado articularlo de forma detallada. </a:t>
            </a:r>
          </a:p>
        </p:txBody>
      </p:sp>
      <p:pic>
        <p:nvPicPr>
          <p:cNvPr id="24" name="Imagen 23" descr="Forma, Rectángulo&#10;&#10;Descripción generada automáticamente">
            <a:extLst>
              <a:ext uri="{FF2B5EF4-FFF2-40B4-BE49-F238E27FC236}">
                <a16:creationId xmlns:a16="http://schemas.microsoft.com/office/drawing/2014/main" id="{0C1F05AA-E185-991F-5E3E-9C3D290B0C1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alphaModFix amt="20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630" y="1204683"/>
            <a:ext cx="3742771" cy="1684381"/>
          </a:xfrm>
          <a:prstGeom prst="rect">
            <a:avLst/>
          </a:prstGeom>
        </p:spPr>
      </p:pic>
      <p:sp>
        <p:nvSpPr>
          <p:cNvPr id="25" name="Textplatzhalter 2">
            <a:extLst>
              <a:ext uri="{FF2B5EF4-FFF2-40B4-BE49-F238E27FC236}">
                <a16:creationId xmlns:a16="http://schemas.microsoft.com/office/drawing/2014/main" id="{0E52F4E1-9D40-9908-5B72-42BACA524814}"/>
              </a:ext>
            </a:extLst>
          </p:cNvPr>
          <p:cNvSpPr txBox="1">
            <a:spLocks/>
          </p:cNvSpPr>
          <p:nvPr/>
        </p:nvSpPr>
        <p:spPr>
          <a:xfrm>
            <a:off x="8654075" y="1300021"/>
            <a:ext cx="3335450" cy="322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 marL="0" marR="0" indent="0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solidFill>
                  <a:srgbClr val="002A9B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228600" marR="0" indent="-228600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Char char="-"/>
              <a:tabLst/>
              <a:defRPr sz="1600" b="0" i="0" u="none" strike="noStrike" cap="none" spc="0" baseline="0">
                <a:solidFill>
                  <a:schemeClr val="accent1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457200" marR="0" indent="-228600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80000"/>
              <a:buFontTx/>
              <a:buChar char="•"/>
              <a:tabLst/>
              <a:defRPr sz="1600" b="0" i="0" u="none" strike="noStrike" cap="none" spc="0" baseline="0">
                <a:solidFill>
                  <a:schemeClr val="accent1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685800" marR="0" indent="-228600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600" b="0" i="0" u="none" strike="noStrike" cap="none" spc="0" baseline="0">
                <a:solidFill>
                  <a:schemeClr val="accent1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868680" marR="0" indent="-182880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80000"/>
              <a:buFontTx/>
              <a:buChar char="•"/>
              <a:tabLst/>
              <a:defRPr sz="1600" b="0" i="0" u="none" strike="noStrike" cap="none" spc="0" baseline="0">
                <a:solidFill>
                  <a:schemeClr val="accent1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3004457" marR="0" indent="-261257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3553097" marR="0" indent="-261257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4101737" marR="0" indent="-261257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4650377" marR="0" indent="-261257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r>
              <a:rPr lang="es-ES_tradnl" sz="1300" dirty="0">
                <a:solidFill>
                  <a:schemeClr val="tx1"/>
                </a:solidFill>
              </a:rPr>
              <a:t>¿Es técnicamente viable/factible ?</a:t>
            </a: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DB900523-2153-F67E-9810-F21B9E2F9E1B}"/>
              </a:ext>
            </a:extLst>
          </p:cNvPr>
          <p:cNvSpPr/>
          <p:nvPr/>
        </p:nvSpPr>
        <p:spPr>
          <a:xfrm>
            <a:off x="8153630" y="1138560"/>
            <a:ext cx="457200" cy="519348"/>
          </a:xfrm>
          <a:prstGeom prst="ellipse">
            <a:avLst/>
          </a:prstGeom>
          <a:solidFill>
            <a:srgbClr val="FC4D56"/>
          </a:solidFill>
          <a:ln w="12700" cap="flat">
            <a:solidFill>
              <a:schemeClr val="accent2">
                <a:lumMod val="20000"/>
                <a:lumOff val="80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10972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IBM Plex Sans" panose="020B0503050203000203" pitchFamily="34" charset="0"/>
                <a:sym typeface="Arial"/>
              </a:rPr>
              <a:t>3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02133032-2E4D-A04B-9DCF-CB171A921E74}"/>
              </a:ext>
            </a:extLst>
          </p:cNvPr>
          <p:cNvSpPr txBox="1"/>
          <p:nvPr/>
        </p:nvSpPr>
        <p:spPr>
          <a:xfrm>
            <a:off x="8310729" y="1638776"/>
            <a:ext cx="3585672" cy="1246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104999"/>
              </a:lnSpc>
              <a:spcBef>
                <a:spcPts val="1200"/>
              </a:spcBef>
              <a:defRPr sz="2000">
                <a:solidFill>
                  <a:schemeClr val="accent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</a:lstStyle>
          <a:p>
            <a:r>
              <a:rPr lang="es-ES_tradnl" sz="1200" dirty="0">
                <a:solidFill>
                  <a:schemeClr val="tx2"/>
                </a:solidFill>
              </a:rPr>
              <a:t>Se analiza la viabilidad técnica de la solución propuesta, evaluando si es </a:t>
            </a:r>
            <a:r>
              <a:rPr lang="es-ES_tradnl" sz="1200" u="sng" dirty="0">
                <a:solidFill>
                  <a:schemeClr val="tx2"/>
                </a:solidFill>
              </a:rPr>
              <a:t>posible implementarla con los recursos y tecnologías disponibles</a:t>
            </a:r>
            <a:r>
              <a:rPr lang="es-ES_tradnl" sz="1200" dirty="0">
                <a:solidFill>
                  <a:schemeClr val="tx2"/>
                </a:solidFill>
              </a:rPr>
              <a:t>. Este criterio considera la capacidad del equipo para desarrollar y ejecutar la solución de manera efectiva.</a:t>
            </a:r>
          </a:p>
        </p:txBody>
      </p:sp>
      <p:pic>
        <p:nvPicPr>
          <p:cNvPr id="35" name="Imagen 34" descr="Forma, Rectángulo&#10;&#10;Descripción generada automáticamente">
            <a:extLst>
              <a:ext uri="{FF2B5EF4-FFF2-40B4-BE49-F238E27FC236}">
                <a16:creationId xmlns:a16="http://schemas.microsoft.com/office/drawing/2014/main" id="{DC0400BF-F8AD-165A-CCCF-E16AA17BEA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alphaModFix amt="20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597" y="3083588"/>
            <a:ext cx="3742771" cy="1684381"/>
          </a:xfrm>
          <a:prstGeom prst="rect">
            <a:avLst/>
          </a:prstGeom>
        </p:spPr>
      </p:pic>
      <p:sp>
        <p:nvSpPr>
          <p:cNvPr id="36" name="Textplatzhalter 2">
            <a:extLst>
              <a:ext uri="{FF2B5EF4-FFF2-40B4-BE49-F238E27FC236}">
                <a16:creationId xmlns:a16="http://schemas.microsoft.com/office/drawing/2014/main" id="{2D0102C8-9E34-F219-2395-02A4EBB6DB60}"/>
              </a:ext>
            </a:extLst>
          </p:cNvPr>
          <p:cNvSpPr txBox="1">
            <a:spLocks/>
          </p:cNvSpPr>
          <p:nvPr/>
        </p:nvSpPr>
        <p:spPr>
          <a:xfrm>
            <a:off x="796042" y="3178926"/>
            <a:ext cx="3335450" cy="322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 marL="0" marR="0" indent="0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solidFill>
                  <a:srgbClr val="002A9B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228600" marR="0" indent="-228600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Char char="-"/>
              <a:tabLst/>
              <a:defRPr sz="1600" b="0" i="0" u="none" strike="noStrike" cap="none" spc="0" baseline="0">
                <a:solidFill>
                  <a:schemeClr val="accent1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457200" marR="0" indent="-228600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80000"/>
              <a:buFontTx/>
              <a:buChar char="•"/>
              <a:tabLst/>
              <a:defRPr sz="1600" b="0" i="0" u="none" strike="noStrike" cap="none" spc="0" baseline="0">
                <a:solidFill>
                  <a:schemeClr val="accent1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685800" marR="0" indent="-228600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600" b="0" i="0" u="none" strike="noStrike" cap="none" spc="0" baseline="0">
                <a:solidFill>
                  <a:schemeClr val="accent1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868680" marR="0" indent="-182880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80000"/>
              <a:buFontTx/>
              <a:buChar char="•"/>
              <a:tabLst/>
              <a:defRPr sz="1600" b="0" i="0" u="none" strike="noStrike" cap="none" spc="0" baseline="0">
                <a:solidFill>
                  <a:schemeClr val="accent1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3004457" marR="0" indent="-261257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3553097" marR="0" indent="-261257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4101737" marR="0" indent="-261257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4650377" marR="0" indent="-261257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r>
              <a:rPr lang="es-ES_tradnl" sz="1300" dirty="0">
                <a:solidFill>
                  <a:schemeClr val="tx1"/>
                </a:solidFill>
              </a:rPr>
              <a:t>¿Cuánto de fácil sería hacerlo realidad? ¿Es económicamente viable?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12C6C3ED-58B1-92C3-2216-089B95A671DD}"/>
              </a:ext>
            </a:extLst>
          </p:cNvPr>
          <p:cNvSpPr/>
          <p:nvPr/>
        </p:nvSpPr>
        <p:spPr>
          <a:xfrm>
            <a:off x="295597" y="3017465"/>
            <a:ext cx="457200" cy="519348"/>
          </a:xfrm>
          <a:prstGeom prst="ellipse">
            <a:avLst/>
          </a:prstGeom>
          <a:solidFill>
            <a:srgbClr val="FC4D56"/>
          </a:solidFill>
          <a:ln w="12700" cap="flat">
            <a:solidFill>
              <a:schemeClr val="accent2">
                <a:lumMod val="20000"/>
                <a:lumOff val="80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10972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b="1" dirty="0">
                <a:solidFill>
                  <a:schemeClr val="bg1"/>
                </a:solidFill>
                <a:latin typeface="IBM Plex Sans" panose="020B0503050203000203" pitchFamily="34" charset="0"/>
                <a:sym typeface="Arial"/>
              </a:rPr>
              <a:t>4</a:t>
            </a:r>
            <a:endParaRPr kumimoji="0" lang="en-US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IBM Plex Sans" panose="020B0503050203000203" pitchFamily="34" charset="0"/>
              <a:sym typeface="Arial"/>
            </a:endParaRP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6427208D-8F5A-318C-E324-4B643D793334}"/>
              </a:ext>
            </a:extLst>
          </p:cNvPr>
          <p:cNvSpPr txBox="1"/>
          <p:nvPr/>
        </p:nvSpPr>
        <p:spPr>
          <a:xfrm>
            <a:off x="452696" y="3635716"/>
            <a:ext cx="3585672" cy="1400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104999"/>
              </a:lnSpc>
              <a:spcBef>
                <a:spcPts val="1200"/>
              </a:spcBef>
              <a:defRPr sz="2000">
                <a:solidFill>
                  <a:schemeClr val="accent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</a:lstStyle>
          <a:p>
            <a:r>
              <a:rPr lang="es-ES" sz="1200" dirty="0">
                <a:solidFill>
                  <a:schemeClr val="tx2"/>
                </a:solidFill>
              </a:rPr>
              <a:t>Se evalúa la factibilidad práctica y económica de implementar la solución propuesta. Se busca determinar si la solución es realizable en </a:t>
            </a:r>
            <a:r>
              <a:rPr lang="es-ES" sz="1200" u="sng" dirty="0">
                <a:solidFill>
                  <a:schemeClr val="tx2"/>
                </a:solidFill>
              </a:rPr>
              <a:t>términos de recursos, costos y plazos</a:t>
            </a:r>
            <a:r>
              <a:rPr lang="es-ES" sz="1200" dirty="0">
                <a:solidFill>
                  <a:schemeClr val="tx2"/>
                </a:solidFill>
              </a:rPr>
              <a:t>, y si tiene el potencial de generar retorno de inversión.</a:t>
            </a:r>
          </a:p>
          <a:p>
            <a:endParaRPr lang="es-ES_tradnl" sz="1200" dirty="0">
              <a:solidFill>
                <a:schemeClr val="tx2"/>
              </a:solidFill>
            </a:endParaRPr>
          </a:p>
        </p:txBody>
      </p:sp>
      <p:pic>
        <p:nvPicPr>
          <p:cNvPr id="39" name="Imagen 38" descr="Forma, Rectángulo&#10;&#10;Descripción generada automáticamente">
            <a:extLst>
              <a:ext uri="{FF2B5EF4-FFF2-40B4-BE49-F238E27FC236}">
                <a16:creationId xmlns:a16="http://schemas.microsoft.com/office/drawing/2014/main" id="{8ACF8D50-BB5E-888B-760C-6862A1FE22B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alphaModFix amt="20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4615" y="3095058"/>
            <a:ext cx="3835894" cy="1684381"/>
          </a:xfrm>
          <a:prstGeom prst="rect">
            <a:avLst/>
          </a:prstGeom>
        </p:spPr>
      </p:pic>
      <p:sp>
        <p:nvSpPr>
          <p:cNvPr id="40" name="Textplatzhalter 2">
            <a:extLst>
              <a:ext uri="{FF2B5EF4-FFF2-40B4-BE49-F238E27FC236}">
                <a16:creationId xmlns:a16="http://schemas.microsoft.com/office/drawing/2014/main" id="{CF8CD05D-9DC9-6461-AE9A-2F32F322EEBD}"/>
              </a:ext>
            </a:extLst>
          </p:cNvPr>
          <p:cNvSpPr txBox="1">
            <a:spLocks/>
          </p:cNvSpPr>
          <p:nvPr/>
        </p:nvSpPr>
        <p:spPr>
          <a:xfrm>
            <a:off x="5232135" y="3190396"/>
            <a:ext cx="2828374" cy="322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 marL="0" marR="0" indent="0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solidFill>
                  <a:srgbClr val="002A9B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228600" marR="0" indent="-228600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Char char="-"/>
              <a:tabLst/>
              <a:defRPr sz="1600" b="0" i="0" u="none" strike="noStrike" cap="none" spc="0" baseline="0">
                <a:solidFill>
                  <a:schemeClr val="accent1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457200" marR="0" indent="-228600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80000"/>
              <a:buFontTx/>
              <a:buChar char="•"/>
              <a:tabLst/>
              <a:defRPr sz="1600" b="0" i="0" u="none" strike="noStrike" cap="none" spc="0" baseline="0">
                <a:solidFill>
                  <a:schemeClr val="accent1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685800" marR="0" indent="-228600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600" b="0" i="0" u="none" strike="noStrike" cap="none" spc="0" baseline="0">
                <a:solidFill>
                  <a:schemeClr val="accent1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868680" marR="0" indent="-182880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80000"/>
              <a:buFontTx/>
              <a:buChar char="•"/>
              <a:tabLst/>
              <a:defRPr sz="1600" b="0" i="0" u="none" strike="noStrike" cap="none" spc="0" baseline="0">
                <a:solidFill>
                  <a:schemeClr val="accent1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3004457" marR="0" indent="-261257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3553097" marR="0" indent="-261257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4101737" marR="0" indent="-261257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4650377" marR="0" indent="-261257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r>
              <a:rPr lang="es-ES_tradnl" sz="1300" dirty="0">
                <a:solidFill>
                  <a:schemeClr val="tx1"/>
                </a:solidFill>
              </a:rPr>
              <a:t>Presentación: El pitch, la presentación y las Skills de defensa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8567FEF4-F19D-7B3B-D6D2-2A1F4B37E5B4}"/>
              </a:ext>
            </a:extLst>
          </p:cNvPr>
          <p:cNvSpPr/>
          <p:nvPr/>
        </p:nvSpPr>
        <p:spPr>
          <a:xfrm>
            <a:off x="4224614" y="3028935"/>
            <a:ext cx="457200" cy="519348"/>
          </a:xfrm>
          <a:prstGeom prst="ellipse">
            <a:avLst/>
          </a:prstGeom>
          <a:solidFill>
            <a:srgbClr val="FC4D56"/>
          </a:solidFill>
          <a:ln w="12700" cap="flat">
            <a:solidFill>
              <a:schemeClr val="accent2">
                <a:lumMod val="20000"/>
                <a:lumOff val="80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10972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IBM Plex Sans" panose="020B0503050203000203" pitchFamily="34" charset="0"/>
                <a:sym typeface="Arial"/>
              </a:rPr>
              <a:t>5</a:t>
            </a: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45F3D8AA-0ED2-FB84-CED2-C3D0023075C8}"/>
              </a:ext>
            </a:extLst>
          </p:cNvPr>
          <p:cNvSpPr txBox="1"/>
          <p:nvPr/>
        </p:nvSpPr>
        <p:spPr>
          <a:xfrm>
            <a:off x="4349726" y="3669292"/>
            <a:ext cx="3585672" cy="10524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104999"/>
              </a:lnSpc>
              <a:spcBef>
                <a:spcPts val="1200"/>
              </a:spcBef>
              <a:defRPr sz="2000">
                <a:solidFill>
                  <a:schemeClr val="accent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</a:lstStyle>
          <a:p>
            <a:r>
              <a:rPr lang="es-ES_tradnl" sz="1200" dirty="0">
                <a:solidFill>
                  <a:schemeClr val="tx2"/>
                </a:solidFill>
              </a:rPr>
              <a:t>Se mide la calidad y efectividad de la presentación, incluyendo tanto  </a:t>
            </a:r>
            <a:r>
              <a:rPr lang="es-ES_tradnl" sz="1200" u="sng" dirty="0">
                <a:solidFill>
                  <a:schemeClr val="tx2"/>
                </a:solidFill>
              </a:rPr>
              <a:t>el pitch y cualquier material visual</a:t>
            </a:r>
            <a:r>
              <a:rPr lang="es-ES_tradnl" sz="1200" dirty="0">
                <a:solidFill>
                  <a:schemeClr val="tx2"/>
                </a:solidFill>
              </a:rPr>
              <a:t> como las habilidades de comunicación, argumentación y conocimiento del tema del equipo para defender la idea frente al jurado</a:t>
            </a:r>
          </a:p>
        </p:txBody>
      </p:sp>
      <p:pic>
        <p:nvPicPr>
          <p:cNvPr id="43" name="Imagen 42" descr="Forma, Rectángulo&#10;&#10;Descripción generada automáticamente">
            <a:extLst>
              <a:ext uri="{FF2B5EF4-FFF2-40B4-BE49-F238E27FC236}">
                <a16:creationId xmlns:a16="http://schemas.microsoft.com/office/drawing/2014/main" id="{B0E88C04-90F1-3653-DFBE-6FC85E4DA1E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alphaModFix amt="20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630" y="3102477"/>
            <a:ext cx="3742771" cy="1684381"/>
          </a:xfrm>
          <a:prstGeom prst="rect">
            <a:avLst/>
          </a:prstGeom>
        </p:spPr>
      </p:pic>
      <p:sp>
        <p:nvSpPr>
          <p:cNvPr id="44" name="Textplatzhalter 2">
            <a:extLst>
              <a:ext uri="{FF2B5EF4-FFF2-40B4-BE49-F238E27FC236}">
                <a16:creationId xmlns:a16="http://schemas.microsoft.com/office/drawing/2014/main" id="{5CB54653-5A12-8F7F-5A7F-E53FE78B8740}"/>
              </a:ext>
            </a:extLst>
          </p:cNvPr>
          <p:cNvSpPr txBox="1">
            <a:spLocks/>
          </p:cNvSpPr>
          <p:nvPr/>
        </p:nvSpPr>
        <p:spPr>
          <a:xfrm>
            <a:off x="8654075" y="3197815"/>
            <a:ext cx="3335450" cy="322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 marL="0" marR="0" indent="0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solidFill>
                  <a:srgbClr val="002A9B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228600" marR="0" indent="-228600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Char char="-"/>
              <a:tabLst/>
              <a:defRPr sz="1600" b="0" i="0" u="none" strike="noStrike" cap="none" spc="0" baseline="0">
                <a:solidFill>
                  <a:schemeClr val="accent1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457200" marR="0" indent="-228600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80000"/>
              <a:buFontTx/>
              <a:buChar char="•"/>
              <a:tabLst/>
              <a:defRPr sz="1600" b="0" i="0" u="none" strike="noStrike" cap="none" spc="0" baseline="0">
                <a:solidFill>
                  <a:schemeClr val="accent1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685800" marR="0" indent="-228600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600" b="0" i="0" u="none" strike="noStrike" cap="none" spc="0" baseline="0">
                <a:solidFill>
                  <a:schemeClr val="accent1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868680" marR="0" indent="-182880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80000"/>
              <a:buFontTx/>
              <a:buChar char="•"/>
              <a:tabLst/>
              <a:defRPr sz="1600" b="0" i="0" u="none" strike="noStrike" cap="none" spc="0" baseline="0">
                <a:solidFill>
                  <a:schemeClr val="accent1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3004457" marR="0" indent="-261257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3553097" marR="0" indent="-261257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4101737" marR="0" indent="-261257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4650377" marR="0" indent="-261257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r>
              <a:rPr lang="es-ES_tradnl" sz="1300" dirty="0">
                <a:solidFill>
                  <a:schemeClr val="tx1"/>
                </a:solidFill>
              </a:rPr>
              <a:t>¿Está aterrizada y bien definida según la metodología Lean Canvas?</a:t>
            </a:r>
          </a:p>
        </p:txBody>
      </p:sp>
      <p:sp>
        <p:nvSpPr>
          <p:cNvPr id="45" name="Elipse 44">
            <a:extLst>
              <a:ext uri="{FF2B5EF4-FFF2-40B4-BE49-F238E27FC236}">
                <a16:creationId xmlns:a16="http://schemas.microsoft.com/office/drawing/2014/main" id="{BC1678F0-39F3-BBA3-7C3D-D0CAD881FA5C}"/>
              </a:ext>
            </a:extLst>
          </p:cNvPr>
          <p:cNvSpPr/>
          <p:nvPr/>
        </p:nvSpPr>
        <p:spPr>
          <a:xfrm>
            <a:off x="4681814" y="3036354"/>
            <a:ext cx="457200" cy="519348"/>
          </a:xfrm>
          <a:prstGeom prst="ellipse">
            <a:avLst/>
          </a:prstGeom>
          <a:solidFill>
            <a:srgbClr val="FC4D56"/>
          </a:solidFill>
          <a:ln w="12700" cap="flat">
            <a:solidFill>
              <a:schemeClr val="accent2">
                <a:lumMod val="20000"/>
                <a:lumOff val="80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10972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b="1" dirty="0">
                <a:solidFill>
                  <a:schemeClr val="bg1"/>
                </a:solidFill>
                <a:latin typeface="IBM Plex Sans" panose="020B0503050203000203" pitchFamily="34" charset="0"/>
                <a:sym typeface="Arial"/>
              </a:rPr>
              <a:t>6</a:t>
            </a:r>
            <a:endParaRPr kumimoji="0" lang="en-US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IBM Plex Sans" panose="020B0503050203000203" pitchFamily="34" charset="0"/>
              <a:sym typeface="Arial"/>
            </a:endParaRPr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E0EA6CFD-13BF-6B59-95FC-709FF00A58F1}"/>
              </a:ext>
            </a:extLst>
          </p:cNvPr>
          <p:cNvSpPr txBox="1"/>
          <p:nvPr/>
        </p:nvSpPr>
        <p:spPr>
          <a:xfrm>
            <a:off x="8310728" y="3698800"/>
            <a:ext cx="3585672" cy="10524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104999"/>
              </a:lnSpc>
              <a:spcBef>
                <a:spcPts val="1200"/>
              </a:spcBef>
              <a:defRPr sz="2000">
                <a:solidFill>
                  <a:schemeClr val="accent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</a:lstStyle>
          <a:p>
            <a:r>
              <a:rPr lang="es-ES" sz="1200" dirty="0">
                <a:solidFill>
                  <a:schemeClr val="tx2"/>
                </a:solidFill>
              </a:rPr>
              <a:t>Se evalúa si la solución propuesta está correctamente estructurada según los principios de la metodología Lean Canvas, que incluye aspectos como </a:t>
            </a:r>
            <a:r>
              <a:rPr lang="es-ES" sz="1200" u="sng" dirty="0">
                <a:solidFill>
                  <a:schemeClr val="tx2"/>
                </a:solidFill>
              </a:rPr>
              <a:t>segmento de clientes, propuesta de valor y modelo de negocio</a:t>
            </a:r>
            <a:r>
              <a:rPr lang="es-ES" sz="1200" dirty="0">
                <a:solidFill>
                  <a:schemeClr val="tx2"/>
                </a:solidFill>
              </a:rPr>
              <a:t>.</a:t>
            </a:r>
          </a:p>
        </p:txBody>
      </p:sp>
      <p:pic>
        <p:nvPicPr>
          <p:cNvPr id="47" name="Imagen 46" descr="Forma, Rectángulo&#10;&#10;Descripción generada automáticamente">
            <a:extLst>
              <a:ext uri="{FF2B5EF4-FFF2-40B4-BE49-F238E27FC236}">
                <a16:creationId xmlns:a16="http://schemas.microsoft.com/office/drawing/2014/main" id="{4F68BAF2-A197-0B53-23E1-CEBD9A52E0A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alphaModFix amt="20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598" y="5022197"/>
            <a:ext cx="3742771" cy="1684381"/>
          </a:xfrm>
          <a:prstGeom prst="rect">
            <a:avLst/>
          </a:prstGeom>
        </p:spPr>
      </p:pic>
      <p:sp>
        <p:nvSpPr>
          <p:cNvPr id="48" name="Textplatzhalter 2">
            <a:extLst>
              <a:ext uri="{FF2B5EF4-FFF2-40B4-BE49-F238E27FC236}">
                <a16:creationId xmlns:a16="http://schemas.microsoft.com/office/drawing/2014/main" id="{B1E0A7D6-F48C-C630-DCF3-BC930B715863}"/>
              </a:ext>
            </a:extLst>
          </p:cNvPr>
          <p:cNvSpPr txBox="1">
            <a:spLocks/>
          </p:cNvSpPr>
          <p:nvPr/>
        </p:nvSpPr>
        <p:spPr>
          <a:xfrm>
            <a:off x="796043" y="5117535"/>
            <a:ext cx="3335450" cy="322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 marL="0" marR="0" indent="0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solidFill>
                  <a:srgbClr val="002A9B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228600" marR="0" indent="-228600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Char char="-"/>
              <a:tabLst/>
              <a:defRPr sz="1600" b="0" i="0" u="none" strike="noStrike" cap="none" spc="0" baseline="0">
                <a:solidFill>
                  <a:schemeClr val="accent1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457200" marR="0" indent="-228600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80000"/>
              <a:buFontTx/>
              <a:buChar char="•"/>
              <a:tabLst/>
              <a:defRPr sz="1600" b="0" i="0" u="none" strike="noStrike" cap="none" spc="0" baseline="0">
                <a:solidFill>
                  <a:schemeClr val="accent1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685800" marR="0" indent="-228600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600" b="0" i="0" u="none" strike="noStrike" cap="none" spc="0" baseline="0">
                <a:solidFill>
                  <a:schemeClr val="accent1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868680" marR="0" indent="-182880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80000"/>
              <a:buFontTx/>
              <a:buChar char="•"/>
              <a:tabLst/>
              <a:defRPr sz="1600" b="0" i="0" u="none" strike="noStrike" cap="none" spc="0" baseline="0">
                <a:solidFill>
                  <a:schemeClr val="accent1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3004457" marR="0" indent="-261257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3553097" marR="0" indent="-261257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4101737" marR="0" indent="-261257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4650377" marR="0" indent="-261257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r>
              <a:rPr lang="es-ES_tradnl" sz="1300" dirty="0">
                <a:solidFill>
                  <a:schemeClr val="tx1"/>
                </a:solidFill>
              </a:rPr>
              <a:t>¿</a:t>
            </a:r>
            <a:r>
              <a:rPr lang="es-ES" sz="1300" dirty="0">
                <a:solidFill>
                  <a:schemeClr val="tx1"/>
                </a:solidFill>
              </a:rPr>
              <a:t>Es una solución innovadora que no está en el mercado? </a:t>
            </a:r>
            <a:endParaRPr lang="es-ES_tradnl" sz="1300" dirty="0">
              <a:solidFill>
                <a:schemeClr val="tx1"/>
              </a:solidFill>
            </a:endParaRPr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E406AB4E-F3FA-3C77-D3D7-E9CA2A02A913}"/>
              </a:ext>
            </a:extLst>
          </p:cNvPr>
          <p:cNvSpPr/>
          <p:nvPr/>
        </p:nvSpPr>
        <p:spPr>
          <a:xfrm>
            <a:off x="295598" y="4956074"/>
            <a:ext cx="457200" cy="519348"/>
          </a:xfrm>
          <a:prstGeom prst="ellipse">
            <a:avLst/>
          </a:prstGeom>
          <a:solidFill>
            <a:srgbClr val="FC4D56"/>
          </a:solidFill>
          <a:ln w="12700" cap="flat">
            <a:solidFill>
              <a:schemeClr val="accent2">
                <a:lumMod val="20000"/>
                <a:lumOff val="80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10972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IBM Plex Sans" panose="020B0503050203000203" pitchFamily="34" charset="0"/>
                <a:sym typeface="Arial"/>
              </a:rPr>
              <a:t>8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95EC9AE8-2052-AE1C-3234-A565DCACF0EA}"/>
              </a:ext>
            </a:extLst>
          </p:cNvPr>
          <p:cNvSpPr txBox="1"/>
          <p:nvPr/>
        </p:nvSpPr>
        <p:spPr>
          <a:xfrm>
            <a:off x="452697" y="5574325"/>
            <a:ext cx="3585672" cy="10524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104999"/>
              </a:lnSpc>
              <a:spcBef>
                <a:spcPts val="1200"/>
              </a:spcBef>
              <a:defRPr sz="2000">
                <a:solidFill>
                  <a:schemeClr val="accent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</a:lstStyle>
          <a:p>
            <a:r>
              <a:rPr lang="es-ES" sz="1200" dirty="0">
                <a:solidFill>
                  <a:schemeClr val="tx2"/>
                </a:solidFill>
              </a:rPr>
              <a:t>Se valorará la originalidad, analizando si la propuesta ofrece una perspectiva novedosa para abordar el problema identificado, y si presenta </a:t>
            </a:r>
            <a:r>
              <a:rPr lang="es-ES" sz="1200" u="sng" dirty="0">
                <a:solidFill>
                  <a:schemeClr val="tx2"/>
                </a:solidFill>
              </a:rPr>
              <a:t>ventajas competitivas en comparación con las soluciones existentes</a:t>
            </a:r>
            <a:r>
              <a:rPr lang="es-ES" sz="1200" dirty="0">
                <a:solidFill>
                  <a:schemeClr val="tx2"/>
                </a:solidFill>
              </a:rPr>
              <a:t> en el mercado.</a:t>
            </a:r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CE0B1155-5355-DBE1-BD94-243FAA03D3DF}"/>
              </a:ext>
            </a:extLst>
          </p:cNvPr>
          <p:cNvSpPr/>
          <p:nvPr/>
        </p:nvSpPr>
        <p:spPr>
          <a:xfrm>
            <a:off x="8153629" y="3028935"/>
            <a:ext cx="457200" cy="519348"/>
          </a:xfrm>
          <a:prstGeom prst="ellipse">
            <a:avLst/>
          </a:prstGeom>
          <a:solidFill>
            <a:srgbClr val="FC4D56"/>
          </a:solidFill>
          <a:ln w="12700" cap="flat">
            <a:solidFill>
              <a:schemeClr val="accent2">
                <a:lumMod val="20000"/>
                <a:lumOff val="80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10972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IBM Plex Sans" panose="020B0503050203000203" pitchFamily="34" charset="0"/>
                <a:sym typeface="Arial"/>
              </a:rPr>
              <a:t>7</a:t>
            </a:r>
          </a:p>
        </p:txBody>
      </p:sp>
      <p:pic>
        <p:nvPicPr>
          <p:cNvPr id="54" name="Imagen 53" descr="Forma, Rectángulo&#10;&#10;Descripción generada automáticamente">
            <a:extLst>
              <a:ext uri="{FF2B5EF4-FFF2-40B4-BE49-F238E27FC236}">
                <a16:creationId xmlns:a16="http://schemas.microsoft.com/office/drawing/2014/main" id="{F4765497-CFC3-E55E-1DE9-9C466DC39D3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alphaModFix amt="20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4611" y="1204683"/>
            <a:ext cx="3742771" cy="1684381"/>
          </a:xfrm>
          <a:prstGeom prst="rect">
            <a:avLst/>
          </a:prstGeom>
        </p:spPr>
      </p:pic>
      <p:sp>
        <p:nvSpPr>
          <p:cNvPr id="55" name="Textplatzhalter 2">
            <a:extLst>
              <a:ext uri="{FF2B5EF4-FFF2-40B4-BE49-F238E27FC236}">
                <a16:creationId xmlns:a16="http://schemas.microsoft.com/office/drawing/2014/main" id="{F1BE531F-7EFF-82A1-3A04-845964A1D537}"/>
              </a:ext>
            </a:extLst>
          </p:cNvPr>
          <p:cNvSpPr txBox="1">
            <a:spLocks/>
          </p:cNvSpPr>
          <p:nvPr/>
        </p:nvSpPr>
        <p:spPr>
          <a:xfrm>
            <a:off x="4725056" y="1300021"/>
            <a:ext cx="3335450" cy="322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 marL="0" marR="0" indent="0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solidFill>
                  <a:srgbClr val="002A9B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228600" marR="0" indent="-228600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Char char="-"/>
              <a:tabLst/>
              <a:defRPr sz="1600" b="0" i="0" u="none" strike="noStrike" cap="none" spc="0" baseline="0">
                <a:solidFill>
                  <a:schemeClr val="accent1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457200" marR="0" indent="-228600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80000"/>
              <a:buFontTx/>
              <a:buChar char="•"/>
              <a:tabLst/>
              <a:defRPr sz="1600" b="0" i="0" u="none" strike="noStrike" cap="none" spc="0" baseline="0">
                <a:solidFill>
                  <a:schemeClr val="accent1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685800" marR="0" indent="-228600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600" b="0" i="0" u="none" strike="noStrike" cap="none" spc="0" baseline="0">
                <a:solidFill>
                  <a:schemeClr val="accent1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868680" marR="0" indent="-182880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80000"/>
              <a:buFontTx/>
              <a:buChar char="•"/>
              <a:tabLst/>
              <a:defRPr sz="1600" b="0" i="0" u="none" strike="noStrike" cap="none" spc="0" baseline="0">
                <a:solidFill>
                  <a:schemeClr val="accent1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3004457" marR="0" indent="-261257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3553097" marR="0" indent="-261257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4101737" marR="0" indent="-261257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4650377" marR="0" indent="-261257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r>
              <a:rPr lang="es-ES_tradnl" sz="1300" dirty="0">
                <a:solidFill>
                  <a:schemeClr val="tx1"/>
                </a:solidFill>
              </a:rPr>
              <a:t>Alineamiento con la temática propuesta</a:t>
            </a:r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FB10E829-38B4-B0AA-FF8D-2760B5DD48E8}"/>
              </a:ext>
            </a:extLst>
          </p:cNvPr>
          <p:cNvSpPr/>
          <p:nvPr/>
        </p:nvSpPr>
        <p:spPr>
          <a:xfrm>
            <a:off x="4224611" y="1138560"/>
            <a:ext cx="457200" cy="519348"/>
          </a:xfrm>
          <a:prstGeom prst="ellipse">
            <a:avLst/>
          </a:prstGeom>
          <a:solidFill>
            <a:srgbClr val="FC4D56"/>
          </a:solidFill>
          <a:ln w="12700" cap="flat">
            <a:solidFill>
              <a:schemeClr val="accent2">
                <a:lumMod val="20000"/>
                <a:lumOff val="80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10972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b="1" dirty="0">
                <a:solidFill>
                  <a:schemeClr val="bg1"/>
                </a:solidFill>
                <a:latin typeface="IBM Plex Sans" panose="020B0503050203000203" pitchFamily="34" charset="0"/>
                <a:sym typeface="Arial"/>
              </a:rPr>
              <a:t>2</a:t>
            </a:r>
            <a:endParaRPr kumimoji="0" lang="en-US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IBM Plex Sans" panose="020B0503050203000203" pitchFamily="34" charset="0"/>
              <a:sym typeface="Arial"/>
            </a:endParaRPr>
          </a:p>
        </p:txBody>
      </p:sp>
      <p:sp>
        <p:nvSpPr>
          <p:cNvPr id="57" name="Text Placeholder 4">
            <a:extLst>
              <a:ext uri="{FF2B5EF4-FFF2-40B4-BE49-F238E27FC236}">
                <a16:creationId xmlns:a16="http://schemas.microsoft.com/office/drawing/2014/main" id="{E6416127-C611-5463-30E9-60EA93363158}"/>
              </a:ext>
            </a:extLst>
          </p:cNvPr>
          <p:cNvSpPr txBox="1"/>
          <p:nvPr/>
        </p:nvSpPr>
        <p:spPr>
          <a:xfrm>
            <a:off x="4381710" y="1638776"/>
            <a:ext cx="3585672" cy="10524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104999"/>
              </a:lnSpc>
              <a:spcBef>
                <a:spcPts val="1200"/>
              </a:spcBef>
              <a:defRPr sz="2000">
                <a:solidFill>
                  <a:schemeClr val="accent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</a:lstStyle>
          <a:p>
            <a:r>
              <a:rPr lang="es-ES_tradnl" sz="1200" dirty="0">
                <a:solidFill>
                  <a:schemeClr val="tx2"/>
                </a:solidFill>
              </a:rPr>
              <a:t>Se evalúa si la idea se alinea con la temática o desafío establecido para la competición. Este criterio busca asegurar que los equipos desarrollen</a:t>
            </a:r>
            <a:r>
              <a:rPr lang="es-ES_tradnl" sz="1200" u="sng" dirty="0">
                <a:solidFill>
                  <a:schemeClr val="tx2"/>
                </a:solidFill>
              </a:rPr>
              <a:t> ideas que sean relevantes y pertinentes dentro del contexto dado.</a:t>
            </a:r>
          </a:p>
        </p:txBody>
      </p:sp>
      <p:pic>
        <p:nvPicPr>
          <p:cNvPr id="58" name="Imagen 57" descr="Forma, Rectángulo&#10;&#10;Descripción generada automáticamente">
            <a:extLst>
              <a:ext uri="{FF2B5EF4-FFF2-40B4-BE49-F238E27FC236}">
                <a16:creationId xmlns:a16="http://schemas.microsoft.com/office/drawing/2014/main" id="{2E9BF37A-BC62-02B4-E55A-CB8331798FD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alphaModFix amt="20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1487" y="5022197"/>
            <a:ext cx="3742771" cy="1684381"/>
          </a:xfrm>
          <a:prstGeom prst="rect">
            <a:avLst/>
          </a:prstGeom>
        </p:spPr>
      </p:pic>
      <p:sp>
        <p:nvSpPr>
          <p:cNvPr id="59" name="Textplatzhalter 2">
            <a:extLst>
              <a:ext uri="{FF2B5EF4-FFF2-40B4-BE49-F238E27FC236}">
                <a16:creationId xmlns:a16="http://schemas.microsoft.com/office/drawing/2014/main" id="{A7DE1E81-8D10-FE9D-A54C-3A5E2CEDBEC3}"/>
              </a:ext>
            </a:extLst>
          </p:cNvPr>
          <p:cNvSpPr txBox="1">
            <a:spLocks/>
          </p:cNvSpPr>
          <p:nvPr/>
        </p:nvSpPr>
        <p:spPr>
          <a:xfrm>
            <a:off x="4631932" y="5117535"/>
            <a:ext cx="3107338" cy="322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 marL="0" marR="0" indent="0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solidFill>
                  <a:srgbClr val="002A9B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228600" marR="0" indent="-228600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Char char="-"/>
              <a:tabLst/>
              <a:defRPr sz="1600" b="0" i="0" u="none" strike="noStrike" cap="none" spc="0" baseline="0">
                <a:solidFill>
                  <a:schemeClr val="accent1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457200" marR="0" indent="-228600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80000"/>
              <a:buFontTx/>
              <a:buChar char="•"/>
              <a:tabLst/>
              <a:defRPr sz="1600" b="0" i="0" u="none" strike="noStrike" cap="none" spc="0" baseline="0">
                <a:solidFill>
                  <a:schemeClr val="accent1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685800" marR="0" indent="-228600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600" b="0" i="0" u="none" strike="noStrike" cap="none" spc="0" baseline="0">
                <a:solidFill>
                  <a:schemeClr val="accent1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868680" marR="0" indent="-182880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80000"/>
              <a:buFontTx/>
              <a:buChar char="•"/>
              <a:tabLst/>
              <a:defRPr sz="1600" b="0" i="0" u="none" strike="noStrike" cap="none" spc="0" baseline="0">
                <a:solidFill>
                  <a:schemeClr val="accent1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3004457" marR="0" indent="-261257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3553097" marR="0" indent="-261257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4101737" marR="0" indent="-261257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4650377" marR="0" indent="-261257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r>
              <a:rPr lang="es-ES_tradnl" sz="1300" dirty="0">
                <a:solidFill>
                  <a:schemeClr val="tx1"/>
                </a:solidFill>
              </a:rPr>
              <a:t>¿</a:t>
            </a:r>
            <a:r>
              <a:rPr lang="es-ES" sz="1300" dirty="0">
                <a:solidFill>
                  <a:schemeClr val="tx1"/>
                </a:solidFill>
              </a:rPr>
              <a:t>El equipo ha considerado el impacto de su solución (…)? </a:t>
            </a:r>
            <a:endParaRPr lang="es-ES_tradnl" sz="1300" dirty="0">
              <a:solidFill>
                <a:schemeClr val="tx1"/>
              </a:solidFill>
            </a:endParaRPr>
          </a:p>
        </p:txBody>
      </p:sp>
      <p:sp>
        <p:nvSpPr>
          <p:cNvPr id="60" name="Elipse 59">
            <a:extLst>
              <a:ext uri="{FF2B5EF4-FFF2-40B4-BE49-F238E27FC236}">
                <a16:creationId xmlns:a16="http://schemas.microsoft.com/office/drawing/2014/main" id="{99E4EA5E-96DE-FCAA-0822-E886BBE6D3A2}"/>
              </a:ext>
            </a:extLst>
          </p:cNvPr>
          <p:cNvSpPr/>
          <p:nvPr/>
        </p:nvSpPr>
        <p:spPr>
          <a:xfrm>
            <a:off x="4131487" y="4956074"/>
            <a:ext cx="457200" cy="519348"/>
          </a:xfrm>
          <a:prstGeom prst="ellipse">
            <a:avLst/>
          </a:prstGeom>
          <a:solidFill>
            <a:srgbClr val="FC4D56"/>
          </a:solidFill>
          <a:ln w="12700" cap="flat">
            <a:solidFill>
              <a:schemeClr val="accent2">
                <a:lumMod val="20000"/>
                <a:lumOff val="80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10972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b="1" dirty="0">
                <a:solidFill>
                  <a:schemeClr val="bg1"/>
                </a:solidFill>
                <a:latin typeface="IBM Plex Sans" panose="020B0503050203000203" pitchFamily="34" charset="0"/>
                <a:sym typeface="Arial"/>
              </a:rPr>
              <a:t>9</a:t>
            </a:r>
            <a:endParaRPr kumimoji="0" lang="en-US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IBM Plex Sans" panose="020B0503050203000203" pitchFamily="34" charset="0"/>
              <a:sym typeface="Arial"/>
            </a:endParaRPr>
          </a:p>
        </p:txBody>
      </p:sp>
      <p:sp>
        <p:nvSpPr>
          <p:cNvPr id="61" name="Text Placeholder 4">
            <a:extLst>
              <a:ext uri="{FF2B5EF4-FFF2-40B4-BE49-F238E27FC236}">
                <a16:creationId xmlns:a16="http://schemas.microsoft.com/office/drawing/2014/main" id="{860FF2E4-13DC-F728-1210-A5A481F975A6}"/>
              </a:ext>
            </a:extLst>
          </p:cNvPr>
          <p:cNvSpPr txBox="1"/>
          <p:nvPr/>
        </p:nvSpPr>
        <p:spPr>
          <a:xfrm>
            <a:off x="4288586" y="5574325"/>
            <a:ext cx="3585672" cy="10524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104999"/>
              </a:lnSpc>
              <a:spcBef>
                <a:spcPts val="1200"/>
              </a:spcBef>
              <a:defRPr sz="2000">
                <a:solidFill>
                  <a:schemeClr val="accent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</a:lstStyle>
          <a:p>
            <a:r>
              <a:rPr lang="es-ES" sz="1200" dirty="0">
                <a:solidFill>
                  <a:schemeClr val="tx2"/>
                </a:solidFill>
              </a:rPr>
              <a:t>Este criterio analiza si se ha tenido en cuenta el impacto social, ambiental y de gobierno corporativo de su solución, buscando promover la equidad, diversidad y sostenibilidad en su sector específico (huella de carbono, medidas ESG…)</a:t>
            </a:r>
          </a:p>
        </p:txBody>
      </p:sp>
      <p:pic>
        <p:nvPicPr>
          <p:cNvPr id="62" name="Imagen 61" descr="Forma, Rectángulo&#10;&#10;Descripción generada automáticamente">
            <a:extLst>
              <a:ext uri="{FF2B5EF4-FFF2-40B4-BE49-F238E27FC236}">
                <a16:creationId xmlns:a16="http://schemas.microsoft.com/office/drawing/2014/main" id="{2399F19E-2496-8DA1-0510-025E88D1444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alphaModFix amt="20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630" y="5022197"/>
            <a:ext cx="3742771" cy="1684381"/>
          </a:xfrm>
          <a:prstGeom prst="rect">
            <a:avLst/>
          </a:prstGeom>
        </p:spPr>
      </p:pic>
      <p:sp>
        <p:nvSpPr>
          <p:cNvPr id="63" name="Textplatzhalter 2">
            <a:extLst>
              <a:ext uri="{FF2B5EF4-FFF2-40B4-BE49-F238E27FC236}">
                <a16:creationId xmlns:a16="http://schemas.microsoft.com/office/drawing/2014/main" id="{1EE9E456-17E9-695E-BB31-1100883E734D}"/>
              </a:ext>
            </a:extLst>
          </p:cNvPr>
          <p:cNvSpPr txBox="1">
            <a:spLocks/>
          </p:cNvSpPr>
          <p:nvPr/>
        </p:nvSpPr>
        <p:spPr>
          <a:xfrm>
            <a:off x="8654075" y="5117535"/>
            <a:ext cx="3107338" cy="322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 marL="0" marR="0" indent="0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cap="none" spc="0" baseline="0">
                <a:solidFill>
                  <a:srgbClr val="002A9B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228600" marR="0" indent="-228600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Char char="-"/>
              <a:tabLst/>
              <a:defRPr sz="1600" b="0" i="0" u="none" strike="noStrike" cap="none" spc="0" baseline="0">
                <a:solidFill>
                  <a:schemeClr val="accent1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457200" marR="0" indent="-228600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80000"/>
              <a:buFontTx/>
              <a:buChar char="•"/>
              <a:tabLst/>
              <a:defRPr sz="1600" b="0" i="0" u="none" strike="noStrike" cap="none" spc="0" baseline="0">
                <a:solidFill>
                  <a:schemeClr val="accent1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685800" marR="0" indent="-228600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600" b="0" i="0" u="none" strike="noStrike" cap="none" spc="0" baseline="0">
                <a:solidFill>
                  <a:schemeClr val="accent1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868680" marR="0" indent="-182880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80000"/>
              <a:buFontTx/>
              <a:buChar char="•"/>
              <a:tabLst/>
              <a:defRPr sz="1600" b="0" i="0" u="none" strike="noStrike" cap="none" spc="0" baseline="0">
                <a:solidFill>
                  <a:schemeClr val="accent1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3004457" marR="0" indent="-261257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3553097" marR="0" indent="-261257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4101737" marR="0" indent="-261257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4650377" marR="0" indent="-261257" algn="l" defTabSz="1097280" rtl="0" latinLnBrk="0">
              <a:lnSpc>
                <a:spcPct val="104999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r>
              <a:rPr lang="es-ES_tradnl" sz="1300" dirty="0">
                <a:solidFill>
                  <a:schemeClr val="tx1"/>
                </a:solidFill>
              </a:rPr>
              <a:t>¿</a:t>
            </a:r>
            <a:r>
              <a:rPr lang="es-ES" sz="1300" dirty="0">
                <a:solidFill>
                  <a:schemeClr val="tx1"/>
                </a:solidFill>
              </a:rPr>
              <a:t>Nuestro mercado estaría dispuesto a pagar por ello?</a:t>
            </a:r>
            <a:endParaRPr lang="es-ES_tradnl" sz="1300" dirty="0">
              <a:solidFill>
                <a:schemeClr val="tx1"/>
              </a:solidFill>
            </a:endParaRPr>
          </a:p>
        </p:txBody>
      </p:sp>
      <p:sp>
        <p:nvSpPr>
          <p:cNvPr id="64" name="Elipse 63">
            <a:extLst>
              <a:ext uri="{FF2B5EF4-FFF2-40B4-BE49-F238E27FC236}">
                <a16:creationId xmlns:a16="http://schemas.microsoft.com/office/drawing/2014/main" id="{1E5009E6-ADD4-9647-CD7C-545CD48E53AA}"/>
              </a:ext>
            </a:extLst>
          </p:cNvPr>
          <p:cNvSpPr/>
          <p:nvPr/>
        </p:nvSpPr>
        <p:spPr>
          <a:xfrm>
            <a:off x="8153630" y="4956074"/>
            <a:ext cx="457200" cy="519348"/>
          </a:xfrm>
          <a:prstGeom prst="ellipse">
            <a:avLst/>
          </a:prstGeom>
          <a:solidFill>
            <a:srgbClr val="FC4D56"/>
          </a:solidFill>
          <a:ln w="12700" cap="flat">
            <a:solidFill>
              <a:schemeClr val="accent2">
                <a:lumMod val="20000"/>
                <a:lumOff val="80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109728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IBM Plex Sans" panose="020B0503050203000203" pitchFamily="34" charset="0"/>
                <a:sym typeface="Arial"/>
              </a:rPr>
              <a:t>E</a:t>
            </a:r>
          </a:p>
        </p:txBody>
      </p:sp>
      <p:sp>
        <p:nvSpPr>
          <p:cNvPr id="65" name="Text Placeholder 4">
            <a:extLst>
              <a:ext uri="{FF2B5EF4-FFF2-40B4-BE49-F238E27FC236}">
                <a16:creationId xmlns:a16="http://schemas.microsoft.com/office/drawing/2014/main" id="{305BA435-402C-55FD-1961-3147F1AD220C}"/>
              </a:ext>
            </a:extLst>
          </p:cNvPr>
          <p:cNvSpPr txBox="1"/>
          <p:nvPr/>
        </p:nvSpPr>
        <p:spPr>
          <a:xfrm>
            <a:off x="8310729" y="5574325"/>
            <a:ext cx="3585672" cy="10524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104999"/>
              </a:lnSpc>
              <a:spcBef>
                <a:spcPts val="1200"/>
              </a:spcBef>
              <a:defRPr sz="2000">
                <a:solidFill>
                  <a:schemeClr val="accent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</a:lstStyle>
          <a:p>
            <a:r>
              <a:rPr lang="es-ES" sz="1200" dirty="0">
                <a:solidFill>
                  <a:schemeClr val="tx2"/>
                </a:solidFill>
              </a:rPr>
              <a:t>Como criterio extra… Se valorará la demanda potencial de la solución en el mercado, considerando si los </a:t>
            </a:r>
            <a:r>
              <a:rPr lang="es-ES" sz="1200" u="sng" dirty="0">
                <a:solidFill>
                  <a:schemeClr val="tx2"/>
                </a:solidFill>
              </a:rPr>
              <a:t>clientes estarían dispuestos a pagar por el producto o servicio </a:t>
            </a:r>
            <a:r>
              <a:rPr lang="es-ES" sz="1200" dirty="0">
                <a:solidFill>
                  <a:schemeClr val="tx2"/>
                </a:solidFill>
              </a:rPr>
              <a:t>(viabilidad comercial y potencial éxito de la idea)</a:t>
            </a:r>
          </a:p>
        </p:txBody>
      </p:sp>
    </p:spTree>
    <p:extLst>
      <p:ext uri="{BB962C8B-B14F-4D97-AF65-F5344CB8AC3E}">
        <p14:creationId xmlns:p14="http://schemas.microsoft.com/office/powerpoint/2010/main" val="134742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2212</TotalTime>
  <Words>734</Words>
  <Application>Microsoft Macintosh PowerPoint</Application>
  <PresentationFormat>Panorámica</PresentationFormat>
  <Paragraphs>77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1" baseType="lpstr">
      <vt:lpstr>Aptos</vt:lpstr>
      <vt:lpstr>Aptos Narrow</vt:lpstr>
      <vt:lpstr>Arial</vt:lpstr>
      <vt:lpstr>Calibri</vt:lpstr>
      <vt:lpstr>Calibri Light</vt:lpstr>
      <vt:lpstr>IBM Plex Sans</vt:lpstr>
      <vt:lpstr>IBM Plex Sans Light</vt:lpstr>
      <vt:lpstr>IBM Plex Sans SmBld</vt:lpstr>
      <vt:lpstr>Diseño personalizado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Cecilia Sada Echevarria</dc:creator>
  <cp:lastModifiedBy>CLARA VALLEJO</cp:lastModifiedBy>
  <cp:revision>17</cp:revision>
  <cp:lastPrinted>2024-04-25T09:25:45Z</cp:lastPrinted>
  <dcterms:created xsi:type="dcterms:W3CDTF">2024-03-19T15:57:48Z</dcterms:created>
  <dcterms:modified xsi:type="dcterms:W3CDTF">2026-02-25T16:00:19Z</dcterms:modified>
</cp:coreProperties>
</file>